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306" r:id="rId2"/>
    <p:sldId id="258" r:id="rId3"/>
    <p:sldId id="414" r:id="rId4"/>
    <p:sldId id="260" r:id="rId5"/>
    <p:sldId id="364" r:id="rId6"/>
    <p:sldId id="261" r:id="rId7"/>
    <p:sldId id="262" r:id="rId8"/>
    <p:sldId id="268" r:id="rId9"/>
    <p:sldId id="410" r:id="rId10"/>
    <p:sldId id="353" r:id="rId11"/>
    <p:sldId id="365" r:id="rId12"/>
    <p:sldId id="415" r:id="rId13"/>
    <p:sldId id="409" r:id="rId14"/>
    <p:sldId id="417" r:id="rId15"/>
    <p:sldId id="418" r:id="rId16"/>
    <p:sldId id="419" r:id="rId17"/>
    <p:sldId id="420" r:id="rId18"/>
    <p:sldId id="421" r:id="rId19"/>
    <p:sldId id="422" r:id="rId20"/>
    <p:sldId id="428" r:id="rId21"/>
    <p:sldId id="423" r:id="rId22"/>
    <p:sldId id="424" r:id="rId23"/>
    <p:sldId id="425" r:id="rId24"/>
    <p:sldId id="426" r:id="rId25"/>
    <p:sldId id="427" r:id="rId26"/>
    <p:sldId id="411" r:id="rId27"/>
    <p:sldId id="412" r:id="rId28"/>
    <p:sldId id="41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38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showGuides="1">
      <p:cViewPr varScale="1">
        <p:scale>
          <a:sx n="59" d="100"/>
          <a:sy n="59" d="100"/>
        </p:scale>
        <p:origin x="756" y="52"/>
      </p:cViewPr>
      <p:guideLst>
        <p:guide orient="horz" pos="2125"/>
        <p:guide pos="382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E7991-161C-4521-85D6-8C0463B682FC}" type="datetimeFigureOut">
              <a:rPr lang="en-US" smtClean="0"/>
              <a:t>2/23/2026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C9524-54A8-49F4-8145-57671A95D083}" type="slidenum">
              <a:rPr lang="en-US" smtClean="0"/>
              <a:t>‹#›</a:t>
            </a:fld>
            <a:endParaRPr lang="en-US"/>
          </a:p>
        </p:txBody>
      </p:sp>
    </p:spTree>
    <p:extLst>
      <p:ext uri="{BB962C8B-B14F-4D97-AF65-F5344CB8AC3E}">
        <p14:creationId xmlns:p14="http://schemas.microsoft.com/office/powerpoint/2010/main" val="100909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CC9524-54A8-49F4-8145-57671A95D083}" type="slidenum">
              <a:rPr lang="en-US" smtClean="0"/>
              <a:t>4</a:t>
            </a:fld>
            <a:endParaRPr lang="en-US"/>
          </a:p>
        </p:txBody>
      </p:sp>
    </p:spTree>
    <p:extLst>
      <p:ext uri="{BB962C8B-B14F-4D97-AF65-F5344CB8AC3E}">
        <p14:creationId xmlns:p14="http://schemas.microsoft.com/office/powerpoint/2010/main" val="2065424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9F8B76B-2FA5-4CD9-AEDF-EC012200FA9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8B76B-2FA5-4CD9-AEDF-EC012200FA9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F8B76B-2FA5-4CD9-AEDF-EC012200FA9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9F8B76B-2FA5-4CD9-AEDF-EC012200FA9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9F8B76B-2FA5-4CD9-AEDF-EC012200FA9A}"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9F8B76B-2FA5-4CD9-AEDF-EC012200FA9A}"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F8B76B-2FA5-4CD9-AEDF-EC012200FA9A}"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8B76B-2FA5-4CD9-AEDF-EC012200FA9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F8B76B-2FA5-4CD9-AEDF-EC012200FA9A}"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8B76B-2FA5-4CD9-AEDF-EC012200FA9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9F8B76B-2FA5-4CD9-AEDF-EC012200FA9A}"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639496-8E6C-401B-98A4-DEB4838AB5D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F8B76B-2FA5-4CD9-AEDF-EC012200FA9A}" type="datetimeFigureOut">
              <a:rPr lang="en-US" smtClean="0"/>
              <a:t>2/23/2026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639496-8E6C-401B-98A4-DEB4838AB5D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dr-gunda-shyama-chandra-prasad-55ba44101/overlay/about-this-profile/" TargetMode="External"/><Relationship Id="rId2" Type="http://schemas.openxmlformats.org/officeDocument/2006/relationships/hyperlink" Target="http://www.brecw.ac.in/" TargetMode="Externa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
          <p:cNvSpPr txBox="1"/>
          <p:nvPr/>
        </p:nvSpPr>
        <p:spPr>
          <a:xfrm>
            <a:off x="-312202" y="93146"/>
            <a:ext cx="11806484" cy="1281629"/>
          </a:xfrm>
          <a:prstGeom prst="rect">
            <a:avLst/>
          </a:prstGeom>
          <a:noFill/>
          <a:ln>
            <a:noFill/>
          </a:ln>
        </p:spPr>
        <p:txBody>
          <a:bodyPr spcFirstLastPara="1" vert="horz" wrap="square" lIns="91425" tIns="91425" rIns="91425" bIns="91425" rtlCol="0" anchor="t" anchorCtr="0">
            <a:noAutofit/>
          </a:bodyPr>
          <a:lstStyle/>
          <a:p>
            <a:pPr marL="0" marR="0" lvl="0" indent="0" algn="ctr" defTabSz="914400" rtl="0" eaLnBrk="1" fontAlgn="auto" latinLnBrk="0" hangingPunct="1">
              <a:spcBef>
                <a:spcPct val="0"/>
              </a:spcBef>
              <a:spcAft>
                <a:spcPts val="1000"/>
              </a:spcAft>
              <a:buClrTx/>
              <a:buSzPts val="1100"/>
              <a:buFontTx/>
              <a:buNone/>
              <a:tabLst>
                <a:tab pos="182880" algn="l"/>
                <a:tab pos="448056" algn="l"/>
              </a:tabLst>
              <a:defRPr/>
            </a:pPr>
            <a:r>
              <a:rPr kumimoji="0" lang="en-US" sz="2800" b="1" i="0" u="none" strike="noStrike" kern="1200" cap="none" spc="0" normalizeH="0" baseline="0" noProof="0" dirty="0">
                <a:ln>
                  <a:noFill/>
                </a:ln>
                <a:solidFill>
                  <a:srgbClr val="00B050"/>
                </a:solidFill>
                <a:effectLst/>
                <a:uLnTx/>
                <a:uFillTx/>
                <a:latin typeface="+mn-lt"/>
                <a:ea typeface="+mj-ea"/>
                <a:cs typeface="Times New Roman" panose="02020603050405020304" pitchFamily="18" charset="0"/>
              </a:rPr>
              <a:t>		</a:t>
            </a:r>
            <a:r>
              <a:rPr kumimoji="0" lang="en-US" sz="3600" b="1" i="0" u="none" strike="noStrike" kern="1200" cap="none" spc="0" normalizeH="0" baseline="0" noProof="0" dirty="0">
                <a:ln>
                  <a:noFill/>
                </a:ln>
                <a:solidFill>
                  <a:srgbClr val="00B050"/>
                </a:solidFill>
                <a:effectLst/>
                <a:uLnTx/>
                <a:uFillTx/>
                <a:latin typeface="Arial" panose="020B0604020202020204" pitchFamily="34" charset="0"/>
                <a:ea typeface="+mj-ea"/>
                <a:cs typeface="Arial" panose="020B0604020202020204" pitchFamily="34" charset="0"/>
              </a:rPr>
              <a:t>      </a:t>
            </a:r>
            <a:r>
              <a:rPr kumimoji="0" lang="en-US" sz="3200" b="1" i="0" u="none" strike="noStrike" kern="1200" cap="none" spc="0" normalizeH="0" baseline="0" noProof="0" dirty="0">
                <a:ln>
                  <a:noFill/>
                </a:ln>
                <a:solidFill>
                  <a:srgbClr val="002060"/>
                </a:solidFill>
                <a:effectLst/>
                <a:uLnTx/>
                <a:uFillTx/>
                <a:latin typeface="Arial" panose="020B0604020202020204" pitchFamily="34" charset="0"/>
                <a:ea typeface="+mj-ea"/>
                <a:cs typeface="Arial" panose="020B0604020202020204" pitchFamily="34" charset="0"/>
              </a:rPr>
              <a:t>Bhoj Reddy Engineering College for Women </a:t>
            </a:r>
            <a:r>
              <a:rPr kumimoji="0" lang="en-US" sz="3200" b="1" i="0" u="none" strike="noStrike" kern="1200" cap="none" spc="0" normalizeH="0" baseline="0" noProof="0" dirty="0">
                <a:ln>
                  <a:noFill/>
                </a:ln>
                <a:solidFill>
                  <a:srgbClr val="7030A0"/>
                </a:solidFill>
                <a:effectLst/>
                <a:uLnTx/>
                <a:uFillTx/>
                <a:latin typeface="Arial" panose="020B0604020202020204" pitchFamily="34" charset="0"/>
                <a:ea typeface="+mj-ea"/>
                <a:cs typeface="Arial" panose="020B0604020202020204" pitchFamily="34" charset="0"/>
              </a:rPr>
              <a:t> </a:t>
            </a:r>
            <a:r>
              <a:rPr kumimoji="0" lang="en-US" b="1" i="0" u="none" strike="noStrike" kern="1200" cap="none" spc="0" normalizeH="0" baseline="0" noProof="0" dirty="0">
                <a:ln>
                  <a:noFill/>
                </a:ln>
                <a:solidFill>
                  <a:srgbClr val="7030A0"/>
                </a:solidFill>
                <a:effectLst/>
                <a:uLnTx/>
                <a:uFillTx/>
                <a:latin typeface="+mn-lt"/>
                <a:ea typeface="+mj-ea"/>
                <a:cs typeface="Times New Roman" panose="02020603050405020304" pitchFamily="18" charset="0"/>
              </a:rPr>
              <a:t> </a:t>
            </a:r>
          </a:p>
          <a:p>
            <a:pPr marL="0" marR="0" lvl="0" indent="0" algn="ctr" defTabSz="914400" rtl="0" eaLnBrk="1" fontAlgn="auto" latinLnBrk="0" hangingPunct="1">
              <a:buClrTx/>
              <a:buSzPts val="1100"/>
              <a:buFontTx/>
              <a:buNone/>
              <a:tabLst>
                <a:tab pos="182880" algn="l"/>
                <a:tab pos="448056" algn="l"/>
              </a:tabLst>
              <a:defRPr/>
            </a:pPr>
            <a:r>
              <a:rPr lang="en-US" sz="1200" b="1" dirty="0">
                <a:solidFill>
                  <a:srgbClr val="7030A0"/>
                </a:solidFill>
                <a:ea typeface="+mj-ea"/>
                <a:cs typeface="Times New Roman" panose="02020603050405020304" pitchFamily="18" charset="0"/>
              </a:rPr>
              <a:t>                    </a:t>
            </a:r>
            <a:r>
              <a:rPr kumimoji="0" lang="en-US" sz="120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(Sponsored by Sangam Laxmibai Vidyapeet, </a:t>
            </a:r>
            <a:r>
              <a:rPr lang="en-US" altLang="en-US" sz="1200" dirty="0">
                <a:solidFill>
                  <a:srgbClr val="000000"/>
                </a:solidFill>
                <a:latin typeface="Arial" panose="020B0604020202020204" pitchFamily="34" charset="0"/>
                <a:cs typeface="Arial" panose="020B0604020202020204" pitchFamily="34" charset="0"/>
              </a:rPr>
              <a:t>, Accredited by NAAC with A grade </a:t>
            </a:r>
            <a:r>
              <a:rPr kumimoji="0" lang="en-US" sz="120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approved by AICTE and affiliated to JNTUH)</a:t>
            </a:r>
          </a:p>
          <a:p>
            <a:pPr marL="0" marR="0" lvl="0" indent="0" algn="ctr" defTabSz="914400" rtl="0" eaLnBrk="1" fontAlgn="auto" latinLnBrk="0" hangingPunct="1">
              <a:buClrTx/>
              <a:buSzPts val="1100"/>
              <a:buFontTx/>
              <a:buNone/>
              <a:tabLst>
                <a:tab pos="182880" algn="l"/>
                <a:tab pos="448056" algn="l"/>
              </a:tabLst>
              <a:defRPr/>
            </a:pPr>
            <a:r>
              <a:rPr lang="en-US" sz="1200" dirty="0" err="1">
                <a:effectLst/>
                <a:latin typeface="Arial" panose="020B0604020202020204" pitchFamily="34" charset="0"/>
                <a:ea typeface="Calibri" panose="020F0502020204030204" pitchFamily="34" charset="0"/>
                <a:cs typeface="Arial" panose="020B0604020202020204" pitchFamily="34" charset="0"/>
              </a:rPr>
              <a:t>Recognised</a:t>
            </a:r>
            <a:r>
              <a:rPr lang="en-US" sz="1200" dirty="0">
                <a:effectLst/>
                <a:latin typeface="Arial" panose="020B0604020202020204" pitchFamily="34" charset="0"/>
                <a:ea typeface="Calibri" panose="020F0502020204030204" pitchFamily="34" charset="0"/>
                <a:cs typeface="Arial" panose="020B0604020202020204" pitchFamily="34" charset="0"/>
              </a:rPr>
              <a:t> by UGC under section 2(f) of the UGC Act, 1956</a:t>
            </a:r>
            <a:r>
              <a:rPr lang="en-US" sz="1800" dirty="0">
                <a:effectLst/>
                <a:latin typeface="Times New Roman" panose="02020603050405020304" pitchFamily="18" charset="0"/>
                <a:ea typeface="Calibri" panose="020F0502020204030204" pitchFamily="34" charset="0"/>
              </a:rPr>
              <a:t>.</a:t>
            </a:r>
            <a:br>
              <a:rPr kumimoji="0" lang="en-US" sz="12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br>
            <a:r>
              <a:rPr kumimoji="0" lang="en-US" sz="12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		                </a:t>
            </a:r>
            <a:r>
              <a:rPr kumimoji="0" lang="en-US" sz="1200" b="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Vinaynagar, I S Sadan Crossroads, Saidabad, Hyderabad – 500 059, Telangana. </a:t>
            </a:r>
            <a:r>
              <a:rPr lang="en-US" sz="1200" dirty="0">
                <a:latin typeface="Arial" panose="020B0604020202020204" pitchFamily="34" charset="0"/>
                <a:ea typeface="+mj-ea"/>
                <a:cs typeface="Arial" panose="020B0604020202020204" pitchFamily="34" charset="0"/>
                <a:hlinkClick r:id="rId2"/>
              </a:rPr>
              <a:t>www.brecw.ac.in</a:t>
            </a:r>
            <a:endParaRPr kumimoji="0" lang="en-US" sz="1200" b="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endParaRPr>
          </a:p>
          <a:p>
            <a:pPr algn="ctr"/>
            <a:r>
              <a:rPr kumimoji="0" lang="en-US" sz="3200" b="1"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      Department of Computer Science and Engineering</a:t>
            </a:r>
          </a:p>
          <a:p>
            <a:pPr algn="ctr"/>
            <a:r>
              <a:rPr kumimoji="0" lang="en-US" sz="240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     Major Project </a:t>
            </a:r>
            <a:r>
              <a:rPr kumimoji="0" lang="en-US" sz="2400" i="0" u="none" strike="noStrike" kern="1200" cap="none" spc="0" normalizeH="0" baseline="0" dirty="0">
                <a:ln>
                  <a:noFill/>
                </a:ln>
                <a:effectLst/>
                <a:uLnTx/>
                <a:uFillTx/>
                <a:latin typeface="Arial" panose="020B0604020202020204" pitchFamily="34" charset="0"/>
                <a:ea typeface="+mj-ea"/>
                <a:cs typeface="Arial" panose="020B0604020202020204" pitchFamily="34" charset="0"/>
              </a:rPr>
              <a:t>Design</a:t>
            </a:r>
            <a:r>
              <a:rPr kumimoji="0" lang="en-US" sz="2400" i="0" u="none" strike="noStrike" kern="1200" cap="none" spc="0" normalizeH="0" baseline="0" noProof="0" dirty="0">
                <a:ln>
                  <a:noFill/>
                </a:ln>
                <a:effectLst/>
                <a:uLnTx/>
                <a:uFillTx/>
                <a:latin typeface="Arial" panose="020B0604020202020204" pitchFamily="34" charset="0"/>
                <a:ea typeface="+mj-ea"/>
                <a:cs typeface="Arial" panose="020B0604020202020204" pitchFamily="34" charset="0"/>
              </a:rPr>
              <a:t> Seminar on</a:t>
            </a:r>
            <a:r>
              <a:rPr lang="en-US" sz="2000" b="1" dirty="0">
                <a:latin typeface="Times New Roman" panose="02020603050405020304" pitchFamily="18" charset="0"/>
                <a:ea typeface="+mj-ea"/>
                <a:cs typeface="Times New Roman" panose="02020603050405020304" pitchFamily="18" charset="0"/>
              </a:rPr>
              <a:t>     </a:t>
            </a:r>
          </a:p>
          <a:p>
            <a:pPr algn="ctr"/>
            <a:r>
              <a:rPr lang="en-US" sz="2000" b="1" dirty="0">
                <a:latin typeface="Times New Roman" panose="02020603050405020304" pitchFamily="18" charset="0"/>
                <a:ea typeface="+mj-ea"/>
                <a:cs typeface="Times New Roman" panose="02020603050405020304" pitchFamily="18" charset="0"/>
              </a:rPr>
              <a:t>   </a:t>
            </a:r>
          </a:p>
          <a:p>
            <a:pPr algn="ctr" eaLnBrk="1" hangingPunct="1">
              <a:lnSpc>
                <a:spcPct val="100000"/>
              </a:lnSpc>
              <a:spcBef>
                <a:spcPts val="425"/>
              </a:spcBef>
              <a:buFontTx/>
              <a:buNone/>
            </a:pPr>
            <a:r>
              <a:rPr lang="en-IN" sz="2800" b="1" dirty="0">
                <a:solidFill>
                  <a:srgbClr val="7030A0"/>
                </a:solidFill>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TRAVEL PARTNER: AI ENHANCED TRAVEL COMPANION</a:t>
            </a:r>
            <a:br>
              <a:rPr lang="en-US" sz="2800" dirty="0">
                <a:latin typeface="Arial" panose="020B0604020202020204" pitchFamily="34" charset="0"/>
                <a:cs typeface="Arial" panose="020B0604020202020204" pitchFamily="34" charset="0"/>
              </a:rPr>
            </a:b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7" name="Content Placeholder 2"/>
          <p:cNvSpPr>
            <a:spLocks noGrp="1"/>
          </p:cNvSpPr>
          <p:nvPr>
            <p:ph idx="1"/>
          </p:nvPr>
        </p:nvSpPr>
        <p:spPr>
          <a:xfrm>
            <a:off x="350153" y="3429000"/>
            <a:ext cx="11491691" cy="3282845"/>
          </a:xfrm>
        </p:spPr>
        <p:txBody>
          <a:bodyPr anchor="t">
            <a:normAutofit fontScale="25000" lnSpcReduction="20000"/>
          </a:bodyPr>
          <a:lstStyle/>
          <a:p>
            <a:pPr marL="0" indent="0" algn="just">
              <a:lnSpc>
                <a:spcPct val="120000"/>
              </a:lnSpc>
              <a:buNone/>
            </a:pPr>
            <a:r>
              <a:rPr lang="en-US" sz="6400" b="1" dirty="0">
                <a:latin typeface="Arial"/>
                <a:cs typeface="Arial"/>
              </a:rPr>
              <a:t>Internal Guide</a:t>
            </a:r>
            <a:r>
              <a:rPr lang="en-US" sz="7200" b="1" dirty="0">
                <a:latin typeface="Arial"/>
                <a:cs typeface="Arial"/>
              </a:rPr>
              <a:t>: </a:t>
            </a:r>
            <a:r>
              <a:rPr lang="en-US" sz="6400" b="1" dirty="0">
                <a:latin typeface="Arial" panose="020B0604020202020204" pitchFamily="34" charset="0"/>
                <a:cs typeface="Arial" panose="020B0604020202020204" pitchFamily="34" charset="0"/>
              </a:rPr>
              <a:t>Mohammed Arshad Hussain </a:t>
            </a:r>
            <a:r>
              <a:rPr lang="en-US" sz="6400" dirty="0">
                <a:latin typeface="Arial"/>
                <a:cs typeface="Arial"/>
              </a:rPr>
              <a:t>	                                                              </a:t>
            </a:r>
            <a:r>
              <a:rPr lang="en-IN" sz="6400" dirty="0">
                <a:latin typeface="Arial"/>
                <a:cs typeface="Arial"/>
              </a:rPr>
              <a:t>     </a:t>
            </a:r>
            <a:r>
              <a:rPr lang="en-US" sz="6400" dirty="0">
                <a:latin typeface="Arial"/>
                <a:cs typeface="Arial"/>
              </a:rPr>
              <a:t> </a:t>
            </a:r>
            <a:r>
              <a:rPr lang="en-US" sz="6400" b="1" dirty="0">
                <a:latin typeface="Arial"/>
                <a:cs typeface="Arial"/>
              </a:rPr>
              <a:t>Date : </a:t>
            </a:r>
            <a:r>
              <a:rPr lang="en-IN" sz="6400" dirty="0">
                <a:latin typeface="Arial"/>
                <a:cs typeface="Arial"/>
              </a:rPr>
              <a:t>19 February 2026         </a:t>
            </a:r>
            <a:endParaRPr lang="en-US" sz="6400" dirty="0">
              <a:latin typeface="Arial"/>
              <a:cs typeface="Arial"/>
            </a:endParaRPr>
          </a:p>
          <a:p>
            <a:pPr marL="0" indent="0">
              <a:lnSpc>
                <a:spcPct val="120000"/>
              </a:lnSpc>
              <a:buNone/>
            </a:pPr>
            <a:r>
              <a:rPr lang="en-US" sz="6400" dirty="0">
                <a:latin typeface="Arial" panose="020B0604020202020204" pitchFamily="34" charset="0"/>
                <a:cs typeface="Arial" panose="020B0604020202020204" pitchFamily="34" charset="0"/>
              </a:rPr>
              <a:t>           Assistant Professor		                                                                               </a:t>
            </a:r>
            <a:r>
              <a:rPr lang="en-IN" sz="6400" dirty="0">
                <a:latin typeface="Arial" panose="020B0604020202020204" pitchFamily="34" charset="0"/>
                <a:cs typeface="Arial" panose="020B0604020202020204" pitchFamily="34" charset="0"/>
              </a:rPr>
              <a:t>     </a:t>
            </a:r>
            <a:r>
              <a:rPr lang="en-US" sz="6400" b="1" dirty="0">
                <a:latin typeface="Arial" panose="020B0604020202020204" pitchFamily="34" charset="0"/>
                <a:cs typeface="Arial" panose="020B0604020202020204" pitchFamily="34" charset="0"/>
              </a:rPr>
              <a:t>Batch</a:t>
            </a:r>
            <a:r>
              <a:rPr lang="en-IN" sz="6400" b="1" dirty="0">
                <a:latin typeface="Arial" panose="020B0604020202020204" pitchFamily="34" charset="0"/>
                <a:cs typeface="Arial" panose="020B0604020202020204" pitchFamily="34" charset="0"/>
              </a:rPr>
              <a:t> </a:t>
            </a:r>
            <a:r>
              <a:rPr lang="en-US" sz="6400" b="1" dirty="0">
                <a:latin typeface="Arial" panose="020B0604020202020204" pitchFamily="34" charset="0"/>
                <a:cs typeface="Arial" panose="020B0604020202020204" pitchFamily="34" charset="0"/>
              </a:rPr>
              <a:t>No</a:t>
            </a:r>
            <a:r>
              <a:rPr lang="en-IN" sz="6400" b="1" dirty="0">
                <a:latin typeface="Arial" panose="020B0604020202020204" pitchFamily="34" charset="0"/>
                <a:cs typeface="Arial" panose="020B0604020202020204" pitchFamily="34" charset="0"/>
              </a:rPr>
              <a:t> </a:t>
            </a:r>
            <a:r>
              <a:rPr lang="en-US" sz="6400" b="1" dirty="0">
                <a:latin typeface="Arial" panose="020B0604020202020204" pitchFamily="34" charset="0"/>
                <a:cs typeface="Arial" panose="020B0604020202020204" pitchFamily="34" charset="0"/>
              </a:rPr>
              <a:t>:</a:t>
            </a:r>
            <a:r>
              <a:rPr lang="en-IN" sz="6400" b="1" dirty="0">
                <a:latin typeface="Arial" panose="020B0604020202020204" pitchFamily="34" charset="0"/>
                <a:cs typeface="Arial" panose="020B0604020202020204" pitchFamily="34" charset="0"/>
              </a:rPr>
              <a:t> </a:t>
            </a:r>
            <a:r>
              <a:rPr lang="en-US" sz="6400" dirty="0">
                <a:latin typeface="Arial" panose="020B0604020202020204" pitchFamily="34" charset="0"/>
                <a:cs typeface="Arial" panose="020B0604020202020204" pitchFamily="34" charset="0"/>
              </a:rPr>
              <a:t>22MP22	</a:t>
            </a:r>
            <a:endParaRPr lang="en-IN" sz="6400" dirty="0">
              <a:latin typeface="Arial" panose="020B0604020202020204" pitchFamily="34" charset="0"/>
              <a:cs typeface="Arial" panose="020B0604020202020204" pitchFamily="34" charset="0"/>
            </a:endParaRPr>
          </a:p>
          <a:p>
            <a:pPr marL="0" indent="0">
              <a:lnSpc>
                <a:spcPct val="170000"/>
              </a:lnSpc>
              <a:spcBef>
                <a:spcPts val="0"/>
              </a:spcBef>
              <a:buNone/>
            </a:pPr>
            <a:r>
              <a:rPr lang="en-US" sz="6400" b="1" dirty="0">
                <a:latin typeface="Arial" panose="020B0604020202020204" pitchFamily="34" charset="0"/>
                <a:cs typeface="Arial" panose="020B0604020202020204" pitchFamily="34" charset="0"/>
              </a:rPr>
              <a:t>CSE-A Coordinator: Dr P Deepthi</a:t>
            </a:r>
            <a:r>
              <a:rPr lang="en-US" sz="6400" dirty="0">
                <a:latin typeface="Arial" panose="020B0604020202020204" pitchFamily="34" charset="0"/>
                <a:cs typeface="Arial" panose="020B0604020202020204" pitchFamily="34" charset="0"/>
              </a:rPr>
              <a:t>				                            </a:t>
            </a:r>
            <a:r>
              <a:rPr lang="en-US" sz="6400" b="1" dirty="0" err="1">
                <a:latin typeface="Arial" panose="020B0604020202020204" pitchFamily="34" charset="0"/>
                <a:cs typeface="Arial" panose="020B0604020202020204" pitchFamily="34" charset="0"/>
              </a:rPr>
              <a:t>Eerla</a:t>
            </a:r>
            <a:r>
              <a:rPr lang="en-US" sz="6400" b="1" dirty="0">
                <a:latin typeface="Arial" panose="020B0604020202020204" pitchFamily="34" charset="0"/>
                <a:cs typeface="Arial" panose="020B0604020202020204" pitchFamily="34" charset="0"/>
              </a:rPr>
              <a:t> Deekshita        22321A0517</a:t>
            </a:r>
          </a:p>
          <a:p>
            <a:pPr marL="0" indent="0">
              <a:lnSpc>
                <a:spcPct val="170000"/>
              </a:lnSpc>
              <a:spcBef>
                <a:spcPts val="0"/>
              </a:spcBef>
              <a:buNone/>
            </a:pPr>
            <a:r>
              <a:rPr lang="en-US" sz="6400" dirty="0">
                <a:latin typeface="Arial" panose="020B0604020202020204" pitchFamily="34" charset="0"/>
                <a:cs typeface="Arial" panose="020B0604020202020204" pitchFamily="34" charset="0"/>
              </a:rPr>
              <a:t>        Associate Professor                                                                                                     </a:t>
            </a:r>
            <a:r>
              <a:rPr lang="en-US" sz="6400" b="1" dirty="0">
                <a:latin typeface="Arial" panose="020B0604020202020204" pitchFamily="34" charset="0"/>
                <a:cs typeface="Arial" panose="020B0604020202020204" pitchFamily="34" charset="0"/>
              </a:rPr>
              <a:t>Kompella Manasa    22321A0541</a:t>
            </a:r>
          </a:p>
          <a:p>
            <a:pPr marL="0" indent="0">
              <a:lnSpc>
                <a:spcPct val="170000"/>
              </a:lnSpc>
              <a:spcBef>
                <a:spcPts val="0"/>
              </a:spcBef>
              <a:buNone/>
            </a:pPr>
            <a:r>
              <a:rPr lang="en-US" sz="6400" dirty="0">
                <a:latin typeface="Arial" panose="020B0604020202020204" pitchFamily="34" charset="0"/>
                <a:cs typeface="Arial" panose="020B0604020202020204" pitchFamily="34" charset="0"/>
              </a:rPr>
              <a:t> </a:t>
            </a:r>
            <a:r>
              <a:rPr lang="en-US" sz="6400" b="1" dirty="0">
                <a:latin typeface="Arial" panose="020B0604020202020204" pitchFamily="34" charset="0"/>
                <a:cs typeface="Arial" panose="020B0604020202020204" pitchFamily="34" charset="0"/>
              </a:rPr>
              <a:t>	                                                             </a:t>
            </a:r>
            <a:r>
              <a:rPr lang="en-IN" sz="6400" b="1" dirty="0">
                <a:latin typeface="Arial" panose="020B0604020202020204" pitchFamily="34" charset="0"/>
                <a:cs typeface="Arial" panose="020B0604020202020204" pitchFamily="34" charset="0"/>
              </a:rPr>
              <a:t>                                                               Dahagam Manogna  22321A0552	</a:t>
            </a:r>
            <a:r>
              <a:rPr lang="en-US" sz="6400" b="1" dirty="0">
                <a:latin typeface="Arial" panose="020B0604020202020204" pitchFamily="34" charset="0"/>
                <a:cs typeface="Arial" panose="020B0604020202020204" pitchFamily="34" charset="0"/>
              </a:rPr>
              <a:t>			</a:t>
            </a:r>
          </a:p>
          <a:p>
            <a:pPr marL="0" indent="0" algn="l" fontAlgn="ctr">
              <a:spcBef>
                <a:spcPts val="0"/>
              </a:spcBef>
              <a:buNone/>
            </a:pPr>
            <a:endParaRPr lang="en-US" sz="6400" b="1" dirty="0">
              <a:latin typeface="Arial" panose="020B0604020202020204" pitchFamily="34" charset="0"/>
              <a:cs typeface="Arial" panose="020B0604020202020204" pitchFamily="34" charset="0"/>
            </a:endParaRPr>
          </a:p>
          <a:p>
            <a:pPr marL="0" indent="0" algn="l" fontAlgn="ctr">
              <a:spcBef>
                <a:spcPts val="0"/>
              </a:spcBef>
              <a:buNone/>
            </a:pPr>
            <a:r>
              <a:rPr lang="en-US" sz="6400" b="1" dirty="0">
                <a:latin typeface="Arial" panose="020B0604020202020204" pitchFamily="34" charset="0"/>
                <a:cs typeface="Arial" panose="020B0604020202020204" pitchFamily="34" charset="0"/>
              </a:rPr>
              <a:t>                </a:t>
            </a:r>
            <a:r>
              <a:rPr lang="en-US" sz="6600" b="1" dirty="0">
                <a:latin typeface="Arial"/>
                <a:cs typeface="Arial"/>
              </a:rPr>
              <a:t>Dr M Vinod </a:t>
            </a:r>
            <a:r>
              <a:rPr lang="en-US" sz="6400" b="1" dirty="0">
                <a:latin typeface="Arial" panose="020B0604020202020204" pitchFamily="34" charset="0"/>
                <a:cs typeface="Arial" panose="020B0604020202020204" pitchFamily="34" charset="0"/>
              </a:rPr>
              <a:t>	                  		                                  </a:t>
            </a:r>
            <a:r>
              <a:rPr lang="sv-SE" sz="6800" b="1" i="0" u="none" strike="noStrike" dirty="0">
                <a:effectLst/>
                <a:latin typeface="Arial" panose="020B0604020202020204" pitchFamily="34" charset="0"/>
                <a:cs typeface="Arial" panose="020B0604020202020204" pitchFamily="34" charset="0"/>
              </a:rPr>
              <a:t>Dr Gunda Shyama Chandra Prasad</a:t>
            </a:r>
            <a:endParaRPr lang="sv-SE" sz="6800" b="1" i="0" u="none" strike="noStrike" dirty="0">
              <a:effectLst/>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a:p>
            <a:pPr marL="0" indent="0">
              <a:spcBef>
                <a:spcPts val="0"/>
              </a:spcBef>
              <a:buNone/>
            </a:pPr>
            <a:r>
              <a:rPr lang="sv-SE" sz="4800" dirty="0"/>
              <a:t>    </a:t>
            </a:r>
            <a:br>
              <a:rPr lang="sv-SE" sz="4800" dirty="0"/>
            </a:br>
            <a:r>
              <a:rPr lang="en-US" sz="6400" dirty="0">
                <a:latin typeface="Arial" panose="020B0604020202020204" pitchFamily="34" charset="0"/>
                <a:cs typeface="Arial" panose="020B0604020202020204" pitchFamily="34" charset="0"/>
              </a:rPr>
              <a:t>     Associate</a:t>
            </a:r>
            <a:r>
              <a:rPr lang="en-IN" altLang="en-US" sz="6400" dirty="0">
                <a:latin typeface="Arial" panose="020B0604020202020204" pitchFamily="34" charset="0"/>
                <a:cs typeface="Arial" panose="020B0604020202020204" pitchFamily="34" charset="0"/>
              </a:rPr>
              <a:t> </a:t>
            </a:r>
            <a:r>
              <a:rPr lang="en-US" sz="6400" dirty="0">
                <a:latin typeface="Arial" panose="020B0604020202020204" pitchFamily="34" charset="0"/>
                <a:cs typeface="Arial" panose="020B0604020202020204" pitchFamily="34" charset="0"/>
              </a:rPr>
              <a:t>Professor &amp; Head	                               		                                 Professor &amp; Principal</a:t>
            </a:r>
          </a:p>
          <a:p>
            <a:pPr marL="457200" indent="-457200" algn="just">
              <a:spcBef>
                <a:spcPts val="0"/>
              </a:spcBef>
              <a:buNone/>
            </a:pPr>
            <a:r>
              <a:rPr lang="en-US" sz="6400" dirty="0">
                <a:latin typeface="Arial" panose="020B0604020202020204" pitchFamily="34" charset="0"/>
                <a:cs typeface="Arial" panose="020B0604020202020204" pitchFamily="34" charset="0"/>
              </a:rPr>
              <a:t>         </a:t>
            </a:r>
          </a:p>
          <a:p>
            <a:pPr marL="457200" indent="-457200" algn="just">
              <a:buNone/>
            </a:pPr>
            <a:endParaRPr lang="en-US" sz="4800" b="1" dirty="0">
              <a:solidFill>
                <a:srgbClr val="000000"/>
              </a:solidFill>
              <a:ea typeface="Times New Roman" panose="02020603050405020304"/>
              <a:cs typeface="Times New Roman" panose="02020603050405020304"/>
              <a:sym typeface="Times New Roman" panose="02020603050405020304"/>
            </a:endParaRPr>
          </a:p>
        </p:txBody>
      </p:sp>
      <p:pic>
        <p:nvPicPr>
          <p:cNvPr id="2" name="Picture 4" descr="logo">
            <a:extLst>
              <a:ext uri="{FF2B5EF4-FFF2-40B4-BE49-F238E27FC236}">
                <a16:creationId xmlns:a16="http://schemas.microsoft.com/office/drawing/2014/main" id="{2370D6D4-6A68-516A-EBAD-7FF6A21BB3BA}"/>
              </a:ext>
            </a:extLst>
          </p:cNvPr>
          <p:cNvPicPr>
            <a:picLocks/>
          </p:cNvPicPr>
          <p:nvPr/>
        </p:nvPicPr>
        <p:blipFill>
          <a:blip r:embed="rId4">
            <a:extLst>
              <a:ext uri="{28A0092B-C50C-407E-A947-70E740481C1C}">
                <a14:useLocalDpi xmlns:a14="http://schemas.microsoft.com/office/drawing/2010/main" val="0"/>
              </a:ext>
            </a:extLst>
          </a:blip>
          <a:srcRect r="76085"/>
          <a:stretch>
            <a:fillRect/>
          </a:stretch>
        </p:blipFill>
        <p:spPr bwMode="auto">
          <a:xfrm>
            <a:off x="207963" y="136525"/>
            <a:ext cx="1200150"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 descr="logonaac1">
            <a:extLst>
              <a:ext uri="{FF2B5EF4-FFF2-40B4-BE49-F238E27FC236}">
                <a16:creationId xmlns:a16="http://schemas.microsoft.com/office/drawing/2014/main" id="{DD70E25F-1C62-9B85-C5E1-69E249A342C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763250" y="180975"/>
            <a:ext cx="1287463" cy="119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952" y="805543"/>
            <a:ext cx="10625137" cy="979714"/>
          </a:xfrm>
        </p:spPr>
        <p:txBody>
          <a:bodyPr>
            <a:normAutofit/>
          </a:bodyPr>
          <a:lstStyle/>
          <a:p>
            <a:pPr algn="ctr"/>
            <a:r>
              <a:rPr lang="en-US" sz="2800" dirty="0">
                <a:latin typeface="Times New Roman" pitchFamily="18" charset="0"/>
                <a:cs typeface="Times New Roman" pitchFamily="18" charset="0"/>
              </a:rPr>
              <a:t>INTRODUCTION</a:t>
            </a:r>
            <a:endParaRPr lang="en-US" sz="2800" b="1" u="sng" dirty="0">
              <a:latin typeface="Arial"/>
              <a:cs typeface="Arial"/>
            </a:endParaRPr>
          </a:p>
        </p:txBody>
      </p:sp>
      <p:sp>
        <p:nvSpPr>
          <p:cNvPr id="3" name="Content Placeholder 2"/>
          <p:cNvSpPr>
            <a:spLocks noGrp="1"/>
          </p:cNvSpPr>
          <p:nvPr>
            <p:ph idx="1"/>
          </p:nvPr>
        </p:nvSpPr>
        <p:spPr>
          <a:xfrm>
            <a:off x="783431" y="1729436"/>
            <a:ext cx="10750617" cy="4323021"/>
          </a:xfrm>
        </p:spPr>
        <p:txBody>
          <a:bodyPr anchor="t">
            <a:noAutofit/>
          </a:bodyPr>
          <a:lstStyle/>
          <a:p>
            <a:endParaRPr lang="en-IN" dirty="0"/>
          </a:p>
          <a:p>
            <a:pPr marL="0" indent="0" algn="just">
              <a:lnSpc>
                <a:spcPct val="150000"/>
              </a:lnSpc>
              <a:buNone/>
            </a:pPr>
            <a:r>
              <a:rPr lang="en-US" sz="2000" dirty="0">
                <a:latin typeface="Times New Roman" panose="02020603050405020304" pitchFamily="18" charset="0"/>
                <a:cs typeface="Times New Roman" panose="02020603050405020304" pitchFamily="18" charset="0"/>
              </a:rPr>
              <a:t> Travel Partner: AI-Enhanced Travel Companion is an intelligent system designed to simplify and personalize the travel planning experience. Unlike traditional travel platforms that only focus on bookings and reviews, this system leverages Artificial Intelligence to generate customized itineraries, suggest destinations, optimize budgets, and provide real-time updates on weather, transport, and local events. By acting as a smart travel assistant, it ensures that users enjoy a seamless journey from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planning to exploration.</a:t>
            </a:r>
            <a:endParaRPr lang="en-US" sz="2000" dirty="0">
              <a:latin typeface="Times New Roman" panose="02020603050405020304" pitchFamily="18" charset="0"/>
              <a:ea typeface="+mn-lt"/>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DE9FEE5-A519-469D-AD76-7E2513B8C0FC}"/>
              </a:ext>
            </a:extLst>
          </p:cNvPr>
          <p:cNvSpPr txBox="1"/>
          <p:nvPr/>
        </p:nvSpPr>
        <p:spPr>
          <a:xfrm>
            <a:off x="845270" y="1648501"/>
            <a:ext cx="10501460" cy="2166619"/>
          </a:xfrm>
          <a:prstGeom prst="rect">
            <a:avLst/>
          </a:prstGeom>
          <a:noFill/>
        </p:spPr>
        <p:txBody>
          <a:bodyPr wrap="square">
            <a:spAutoFit/>
          </a:bodyPr>
          <a:lstStyle/>
          <a:p>
            <a:endParaRPr lang="en-IN" dirty="0"/>
          </a:p>
          <a:p>
            <a:pPr algn="just">
              <a:lnSpc>
                <a:spcPct val="150000"/>
              </a:lnSpc>
            </a:pPr>
            <a:r>
              <a:rPr lang="en-US" sz="2000" dirty="0">
                <a:latin typeface="Times New Roman" panose="02020603050405020304" pitchFamily="18" charset="0"/>
                <a:cs typeface="Times New Roman" panose="02020603050405020304" pitchFamily="18" charset="0"/>
              </a:rPr>
              <a:t>The project aims to develop a personalized travel recommendation, real-time assistance, and seamless booking experiences for </a:t>
            </a:r>
            <a:r>
              <a:rPr lang="en-US" sz="2000" dirty="0" err="1">
                <a:latin typeface="Times New Roman" panose="02020603050405020304" pitchFamily="18" charset="0"/>
                <a:cs typeface="Times New Roman" panose="02020603050405020304" pitchFamily="18" charset="0"/>
              </a:rPr>
              <a:t>travellers</a:t>
            </a:r>
            <a:r>
              <a:rPr lang="en-US" sz="2000" dirty="0">
                <a:latin typeface="Times New Roman" panose="02020603050405020304" pitchFamily="18" charset="0"/>
                <a:cs typeface="Times New Roman" panose="02020603050405020304" pitchFamily="18" charset="0"/>
              </a:rPr>
              <a:t>. The app leverages AI-powered algorithms to understand user preferences, </a:t>
            </a:r>
            <a:r>
              <a:rPr lang="en-US" sz="2000" dirty="0" err="1">
                <a:latin typeface="Times New Roman" panose="02020603050405020304" pitchFamily="18" charset="0"/>
                <a:cs typeface="Times New Roman" panose="02020603050405020304" pitchFamily="18" charset="0"/>
              </a:rPr>
              <a:t>behaviours</a:t>
            </a:r>
            <a:r>
              <a:rPr lang="en-US" sz="2000" dirty="0">
                <a:latin typeface="Times New Roman" panose="02020603050405020304" pitchFamily="18" charset="0"/>
                <a:cs typeface="Times New Roman" panose="02020603050405020304" pitchFamily="18" charset="0"/>
              </a:rPr>
              <a:t>, and interests, offering tailored suggestions for destinations, activities, accommodations, and transportation.</a:t>
            </a:r>
          </a:p>
        </p:txBody>
      </p:sp>
      <p:sp>
        <p:nvSpPr>
          <p:cNvPr id="8" name="TextBox 7">
            <a:extLst>
              <a:ext uri="{FF2B5EF4-FFF2-40B4-BE49-F238E27FC236}">
                <a16:creationId xmlns:a16="http://schemas.microsoft.com/office/drawing/2014/main" id="{AABE68AC-036F-411F-B781-037234FE210E}"/>
              </a:ext>
            </a:extLst>
          </p:cNvPr>
          <p:cNvSpPr txBox="1"/>
          <p:nvPr/>
        </p:nvSpPr>
        <p:spPr>
          <a:xfrm>
            <a:off x="4035632" y="922517"/>
            <a:ext cx="4713402" cy="523220"/>
          </a:xfrm>
          <a:prstGeom prst="rect">
            <a:avLst/>
          </a:prstGeom>
          <a:noFill/>
        </p:spPr>
        <p:txBody>
          <a:bodyPr wrap="square" rtlCol="0">
            <a:spAutoFit/>
          </a:bodyPr>
          <a:lstStyle/>
          <a:p>
            <a:r>
              <a:rPr lang="en-US" sz="2800" dirty="0">
                <a:latin typeface="Times New Roman" pitchFamily="18" charset="0"/>
                <a:cs typeface="Times New Roman" pitchFamily="18" charset="0"/>
              </a:rPr>
              <a:t>PROJECT SCOPE</a:t>
            </a:r>
            <a:endParaRPr lang="en-US" sz="2800" dirty="0"/>
          </a:p>
        </p:txBody>
      </p:sp>
    </p:spTree>
    <p:extLst>
      <p:ext uri="{BB962C8B-B14F-4D97-AF65-F5344CB8AC3E}">
        <p14:creationId xmlns:p14="http://schemas.microsoft.com/office/powerpoint/2010/main" val="4160694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5284" y="519007"/>
            <a:ext cx="7551240" cy="1208405"/>
          </a:xfrm>
        </p:spPr>
        <p:txBody>
          <a:bodyPr anchor="ctr">
            <a:normAutofit/>
          </a:bodyPr>
          <a:lstStyle/>
          <a:p>
            <a:pPr algn="ctr"/>
            <a:r>
              <a:rPr lang="en-US" sz="2800" dirty="0">
                <a:latin typeface="Times New Roman" pitchFamily="18" charset="0"/>
                <a:cs typeface="Times New Roman" pitchFamily="18" charset="0"/>
              </a:rPr>
              <a:t>EXISTING SYSTEM</a:t>
            </a:r>
            <a:endParaRPr lang="en-US" sz="2800" b="1" u="sng" dirty="0">
              <a:latin typeface="Arial"/>
              <a:cs typeface="Arial"/>
            </a:endParaRPr>
          </a:p>
        </p:txBody>
      </p:sp>
      <p:sp>
        <p:nvSpPr>
          <p:cNvPr id="5" name="Rectangle 2">
            <a:extLst>
              <a:ext uri="{FF2B5EF4-FFF2-40B4-BE49-F238E27FC236}">
                <a16:creationId xmlns:a16="http://schemas.microsoft.com/office/drawing/2014/main" id="{27C9C5FB-8814-4E5E-EF1C-898D37FF4CEE}"/>
              </a:ext>
            </a:extLst>
          </p:cNvPr>
          <p:cNvSpPr>
            <a:spLocks noGrp="1" noChangeArrowheads="1"/>
          </p:cNvSpPr>
          <p:nvPr>
            <p:ph idx="1"/>
          </p:nvPr>
        </p:nvSpPr>
        <p:spPr bwMode="auto">
          <a:xfrm>
            <a:off x="410487" y="1366573"/>
            <a:ext cx="10680569" cy="304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dirty="0"/>
          </a:p>
          <a:p>
            <a:pPr marL="0" indent="0" algn="just">
              <a:lnSpc>
                <a:spcPct val="150000"/>
              </a:lnSpc>
              <a:buNone/>
            </a:pPr>
            <a:r>
              <a:rPr lang="en-US" dirty="0"/>
              <a:t> </a:t>
            </a:r>
            <a:r>
              <a:rPr lang="en-US" sz="2000" dirty="0">
                <a:latin typeface="Times New Roman" panose="02020603050405020304" pitchFamily="18" charset="0"/>
                <a:cs typeface="Times New Roman" panose="02020603050405020304" pitchFamily="18" charset="0"/>
              </a:rPr>
              <a:t>Existing travel planning systems primarily focus on providing online booking facilities and basic travel information. These platforms generally allow users to search for flights, hotels, and tour packages, while offering reviews and ratings to support decision-making. In addition, some systems provide limited itinerary suggestions, which are usually based on well-known tourist attractions and generic travel patterns.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741" y="1337733"/>
            <a:ext cx="11359299" cy="4558226"/>
          </a:xfrm>
        </p:spPr>
        <p:txBody>
          <a:bodyPr vert="horz" lIns="91440" tIns="45720" rIns="91440" bIns="45720" rtlCol="0" anchor="t">
            <a:normAutofit/>
          </a:bodyPr>
          <a:lstStyle/>
          <a:p>
            <a:pPr marL="0" indent="0">
              <a:buNone/>
            </a:pPr>
            <a:endParaRPr lang="en-IN" dirty="0"/>
          </a:p>
          <a:p>
            <a:pPr algn="just">
              <a:lnSpc>
                <a:spcPct val="110000"/>
              </a:lnSpc>
            </a:pPr>
            <a:r>
              <a:rPr lang="en-US" sz="2000" b="1" dirty="0">
                <a:latin typeface="Times New Roman" panose="02020603050405020304" pitchFamily="18" charset="0"/>
                <a:cs typeface="Times New Roman" panose="02020603050405020304" pitchFamily="18" charset="0"/>
              </a:rPr>
              <a:t>Fragmented Approach: </a:t>
            </a:r>
            <a:r>
              <a:rPr lang="en-US" sz="2000" dirty="0">
                <a:latin typeface="Times New Roman" panose="02020603050405020304" pitchFamily="18" charset="0"/>
                <a:cs typeface="Times New Roman" panose="02020603050405020304" pitchFamily="18" charset="0"/>
              </a:rPr>
              <a:t>Users typically need to switch between multiple applications for booking, navigation, food discovery, and itinerary planning </a:t>
            </a:r>
          </a:p>
          <a:p>
            <a:pPr algn="just">
              <a:lnSpc>
                <a:spcPct val="110000"/>
              </a:lnSpc>
            </a:pPr>
            <a:r>
              <a:rPr lang="en-US" sz="2000" b="1" dirty="0">
                <a:latin typeface="Times New Roman" panose="02020603050405020304" pitchFamily="18" charset="0"/>
                <a:cs typeface="Times New Roman" panose="02020603050405020304" pitchFamily="18" charset="0"/>
              </a:rPr>
              <a:t>Static Planning: </a:t>
            </a:r>
            <a:r>
              <a:rPr lang="en-US" sz="2000" dirty="0">
                <a:latin typeface="Times New Roman" panose="02020603050405020304" pitchFamily="18" charset="0"/>
                <a:cs typeface="Times New Roman" panose="02020603050405020304" pitchFamily="18" charset="0"/>
              </a:rPr>
              <a:t>Most systems do not adapt travel plans in real-time when unexpected changes occur, such as weather disruptions or transportation delays. </a:t>
            </a:r>
          </a:p>
          <a:p>
            <a:pPr algn="just">
              <a:lnSpc>
                <a:spcPct val="110000"/>
              </a:lnSpc>
            </a:pPr>
            <a:r>
              <a:rPr lang="en-US" sz="2000" b="1" dirty="0">
                <a:latin typeface="Times New Roman" panose="02020603050405020304" pitchFamily="18" charset="0"/>
                <a:cs typeface="Times New Roman" panose="02020603050405020304" pitchFamily="18" charset="0"/>
              </a:rPr>
              <a:t>Limited Local Guidance: </a:t>
            </a:r>
            <a:r>
              <a:rPr lang="en-US" sz="2000" dirty="0">
                <a:latin typeface="Times New Roman" panose="02020603050405020304" pitchFamily="18" charset="0"/>
                <a:cs typeface="Times New Roman" panose="02020603050405020304" pitchFamily="18" charset="0"/>
              </a:rPr>
              <a:t>While popular attractions are listed, there is little focus on personalized cultural experiences such as local cuisines or hidden gems </a:t>
            </a:r>
          </a:p>
        </p:txBody>
      </p:sp>
      <p:sp>
        <p:nvSpPr>
          <p:cNvPr id="4" name="Title 1"/>
          <p:cNvSpPr>
            <a:spLocks noGrp="1"/>
          </p:cNvSpPr>
          <p:nvPr>
            <p:ph type="title"/>
          </p:nvPr>
        </p:nvSpPr>
        <p:spPr>
          <a:xfrm>
            <a:off x="838200" y="336216"/>
            <a:ext cx="10417810" cy="1208405"/>
          </a:xfrm>
        </p:spPr>
        <p:txBody>
          <a:bodyPr anchor="ctr">
            <a:normAutofit/>
          </a:bodyPr>
          <a:lstStyle/>
          <a:p>
            <a:pPr algn="ctr"/>
            <a:r>
              <a:rPr lang="en-US" sz="3200" dirty="0">
                <a:latin typeface="Times New Roman" pitchFamily="18" charset="0"/>
                <a:cs typeface="Times New Roman" pitchFamily="18" charset="0"/>
              </a:rPr>
              <a:t>DISADVANTAGES OF EXISTING SYSTEM</a:t>
            </a:r>
            <a:endParaRPr lang="en-US" sz="3200" b="1" u="sng"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7485" y="281981"/>
            <a:ext cx="10697029" cy="990437"/>
          </a:xfrm>
        </p:spPr>
        <p:txBody>
          <a:bodyPr anchor="ctr">
            <a:normAutofit/>
          </a:bodyPr>
          <a:lstStyle/>
          <a:p>
            <a:pPr algn="ctr"/>
            <a:r>
              <a:rPr lang="en-US" sz="2800" dirty="0">
                <a:latin typeface="Times New Roman" pitchFamily="18" charset="0"/>
                <a:cs typeface="Times New Roman" pitchFamily="18" charset="0"/>
              </a:rPr>
              <a:t>PROPOSED SYSTEM</a:t>
            </a:r>
            <a:endParaRPr lang="en-US" sz="2800" u="sng" dirty="0">
              <a:latin typeface="Arial"/>
              <a:cs typeface="Arial"/>
            </a:endParaRPr>
          </a:p>
        </p:txBody>
      </p:sp>
      <p:sp>
        <p:nvSpPr>
          <p:cNvPr id="4" name="Rectangle 1">
            <a:extLst>
              <a:ext uri="{FF2B5EF4-FFF2-40B4-BE49-F238E27FC236}">
                <a16:creationId xmlns:a16="http://schemas.microsoft.com/office/drawing/2014/main" id="{BA9D9851-EC4B-805A-4883-9284E728E10F}"/>
              </a:ext>
            </a:extLst>
          </p:cNvPr>
          <p:cNvSpPr>
            <a:spLocks noGrp="1" noChangeArrowheads="1"/>
          </p:cNvSpPr>
          <p:nvPr>
            <p:ph idx="1"/>
          </p:nvPr>
        </p:nvSpPr>
        <p:spPr bwMode="auto">
          <a:xfrm>
            <a:off x="627152" y="1997761"/>
            <a:ext cx="11194059"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50000"/>
              </a:lnSpc>
              <a:spcBef>
                <a:spcPts val="0"/>
              </a:spcBef>
              <a:buNone/>
            </a:pPr>
            <a:r>
              <a:rPr lang="en-US" sz="2000" dirty="0">
                <a:latin typeface="Times New Roman" panose="02020603050405020304" pitchFamily="18" charset="0"/>
                <a:cs typeface="Times New Roman" panose="02020603050405020304" pitchFamily="18" charset="0"/>
              </a:rPr>
              <a:t>The proposed system Travel Partner: AI-Enhanced Travel Companion, is designed to overcome the limitations of existing travel planning platforms by providing a personalized, intelligent, and adaptive travel solution. Unlike traditional systems that focus only on bookings and generic information, this system integrates Artificial Intelligence (AI) and Machine Learning (ML) to deliver end-to-end assistance throughout the travel journey.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907" y="377688"/>
            <a:ext cx="10488705" cy="1087158"/>
          </a:xfrm>
        </p:spPr>
        <p:txBody>
          <a:bodyPr>
            <a:normAutofit/>
          </a:bodyPr>
          <a:lstStyle/>
          <a:p>
            <a:pPr algn="ctr"/>
            <a:r>
              <a:rPr lang="en-US" sz="2800" dirty="0">
                <a:latin typeface="Times New Roman" pitchFamily="18" charset="0"/>
                <a:cs typeface="Times New Roman" pitchFamily="18" charset="0"/>
              </a:rPr>
              <a:t>ADVANTAGES OF PROPOSED SYSTEM</a:t>
            </a:r>
            <a:endParaRPr lang="en-US" sz="2800" u="sng" dirty="0">
              <a:latin typeface="Arial"/>
              <a:cs typeface="Arial"/>
            </a:endParaRPr>
          </a:p>
        </p:txBody>
      </p:sp>
      <p:sp>
        <p:nvSpPr>
          <p:cNvPr id="3" name="Content Placeholder 2"/>
          <p:cNvSpPr>
            <a:spLocks noGrp="1"/>
          </p:cNvSpPr>
          <p:nvPr>
            <p:ph idx="1"/>
          </p:nvPr>
        </p:nvSpPr>
        <p:spPr>
          <a:xfrm>
            <a:off x="560294" y="1663723"/>
            <a:ext cx="11040035" cy="5405717"/>
          </a:xfrm>
        </p:spPr>
        <p:txBody>
          <a:bodyPr vert="horz" lIns="91440" tIns="45720" rIns="91440" bIns="45720" rtlCol="0" anchor="t">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Budget Optimization</a:t>
            </a:r>
            <a:r>
              <a:rPr lang="en-US" sz="2000" dirty="0">
                <a:latin typeface="Times New Roman" panose="02020603050405020304" pitchFamily="18" charset="0"/>
                <a:cs typeface="Times New Roman" panose="02020603050405020304" pitchFamily="18" charset="0"/>
              </a:rPr>
              <a:t>: Helps users compare options and choose the most    </a:t>
            </a:r>
          </a:p>
          <a:p>
            <a:pPr marL="0" indent="0">
              <a:lnSpc>
                <a:spcPct val="150000"/>
              </a:lnSpc>
              <a:buNone/>
            </a:pPr>
            <a:r>
              <a:rPr lang="en-US" sz="2000" dirty="0">
                <a:latin typeface="Times New Roman" panose="02020603050405020304" pitchFamily="18" charset="0"/>
                <a:cs typeface="Times New Roman" panose="02020603050405020304" pitchFamily="18" charset="0"/>
              </a:rPr>
              <a:t>   cost-effective plans for flights, hotels and activities </a:t>
            </a:r>
          </a:p>
          <a:p>
            <a:pPr algn="just">
              <a:lnSpc>
                <a:spcPct val="150000"/>
              </a:lnSpc>
            </a:pPr>
            <a:r>
              <a:rPr lang="en-US" sz="2000" b="1" dirty="0">
                <a:latin typeface="Times New Roman" panose="02020603050405020304" pitchFamily="18" charset="0"/>
                <a:cs typeface="Times New Roman" panose="02020603050405020304" pitchFamily="18" charset="0"/>
              </a:rPr>
              <a:t>Personalized Experience: </a:t>
            </a:r>
            <a:r>
              <a:rPr lang="en-US" sz="2000" dirty="0">
                <a:latin typeface="Times New Roman" panose="02020603050405020304" pitchFamily="18" charset="0"/>
                <a:cs typeface="Times New Roman" panose="02020603050405020304" pitchFamily="18" charset="0"/>
              </a:rPr>
              <a:t>Generates customized itineraries based on user preferences such as budget, interests, and travel duration. </a:t>
            </a:r>
          </a:p>
          <a:p>
            <a:pPr algn="just">
              <a:lnSpc>
                <a:spcPct val="150000"/>
              </a:lnSpc>
            </a:pPr>
            <a:r>
              <a:rPr lang="en-US" sz="2000" b="1" dirty="0">
                <a:latin typeface="Times New Roman" panose="02020603050405020304" pitchFamily="18" charset="0"/>
                <a:cs typeface="Times New Roman" panose="02020603050405020304" pitchFamily="18" charset="0"/>
              </a:rPr>
              <a:t>End-to-End Planning: </a:t>
            </a:r>
            <a:r>
              <a:rPr lang="en-US" sz="2000" dirty="0">
                <a:latin typeface="Times New Roman" panose="02020603050405020304" pitchFamily="18" charset="0"/>
                <a:cs typeface="Times New Roman" panose="02020603050405020304" pitchFamily="18" charset="0"/>
              </a:rPr>
              <a:t>Provides a complete solution covering destination suggestions, transport, accommodation, food, and activities in a single platform. </a:t>
            </a:r>
          </a:p>
          <a:p>
            <a:pPr algn="just">
              <a:lnSpc>
                <a:spcPct val="150000"/>
              </a:lnSpc>
            </a:pPr>
            <a:r>
              <a:rPr lang="en-US" sz="2000" b="1" dirty="0">
                <a:latin typeface="Times New Roman" panose="02020603050405020304" pitchFamily="18" charset="0"/>
                <a:cs typeface="Times New Roman" panose="02020603050405020304" pitchFamily="18" charset="0"/>
              </a:rPr>
              <a:t>Real-Time Adaptability: </a:t>
            </a:r>
            <a:r>
              <a:rPr lang="en-US" sz="2000" dirty="0">
                <a:latin typeface="Times New Roman" panose="02020603050405020304" pitchFamily="18" charset="0"/>
                <a:cs typeface="Times New Roman" panose="02020603050405020304" pitchFamily="18" charset="0"/>
              </a:rPr>
              <a:t>Updates travel plans dynamically using live data such as weather forecasts, transport schedules, and local events. </a:t>
            </a:r>
          </a:p>
          <a:p>
            <a:pPr marL="0" indent="0" algn="just">
              <a:lnSpc>
                <a:spcPct val="150000"/>
              </a:lnSpc>
              <a:spcBef>
                <a:spcPts val="0"/>
              </a:spcBef>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0415" y="356773"/>
            <a:ext cx="7671170" cy="678866"/>
          </a:xfrm>
        </p:spPr>
        <p:txBody>
          <a:bodyPr>
            <a:normAutofit/>
          </a:bodyPr>
          <a:lstStyle/>
          <a:p>
            <a:pPr algn="ctr"/>
            <a:r>
              <a:rPr lang="en-US" sz="2800" dirty="0">
                <a:latin typeface="Times New Roman"/>
                <a:cs typeface="Times New Roman"/>
              </a:rPr>
              <a:t>REQUIREMENT ANALYSIS</a:t>
            </a:r>
            <a:endParaRPr lang="en-IN" sz="2800" b="1" u="sng" dirty="0">
              <a:latin typeface="Arial"/>
              <a:cs typeface="Arial"/>
            </a:endParaRPr>
          </a:p>
        </p:txBody>
      </p:sp>
      <p:sp>
        <p:nvSpPr>
          <p:cNvPr id="3" name="Content Placeholder 2"/>
          <p:cNvSpPr>
            <a:spLocks noGrp="1"/>
          </p:cNvSpPr>
          <p:nvPr>
            <p:ph idx="1"/>
          </p:nvPr>
        </p:nvSpPr>
        <p:spPr>
          <a:xfrm>
            <a:off x="533400" y="875609"/>
            <a:ext cx="11247358" cy="5662016"/>
          </a:xfrm>
        </p:spPr>
        <p:txBody>
          <a:bodyPr numCol="1" anchor="t">
            <a:noAutofit/>
          </a:bodyPr>
          <a:lstStyle/>
          <a:p>
            <a:pPr marL="0" indent="0" algn="just">
              <a:lnSpc>
                <a:spcPct val="150000"/>
              </a:lnSpc>
              <a:buNone/>
            </a:pPr>
            <a:r>
              <a:rPr lang="en-US" sz="2000" b="1" dirty="0">
                <a:latin typeface="Times New Roman" panose="02020603050405020304" pitchFamily="18" charset="0"/>
                <a:cs typeface="Times New Roman" panose="02020603050405020304" pitchFamily="18" charset="0"/>
              </a:rPr>
              <a:t>Functional Requirements</a:t>
            </a:r>
          </a:p>
          <a:p>
            <a:pPr marL="0" indent="0">
              <a:lnSpc>
                <a:spcPct val="150000"/>
              </a:lnSpc>
              <a:buNone/>
            </a:pPr>
            <a:r>
              <a:rPr lang="en-IN" sz="2000" b="1" dirty="0">
                <a:latin typeface="Times New Roman" panose="02020603050405020304" pitchFamily="18" charset="0"/>
                <a:cs typeface="Times New Roman" panose="02020603050405020304" pitchFamily="18" charset="0"/>
              </a:rPr>
              <a:t>1. User Module: </a:t>
            </a:r>
            <a:endParaRPr lang="en-IN" sz="2000" dirty="0">
              <a:latin typeface="Times New Roman" panose="02020603050405020304" pitchFamily="18" charset="0"/>
              <a:cs typeface="Times New Roman" panose="02020603050405020304" pitchFamily="18" charset="0"/>
            </a:endParaRP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Register and login to the system securely.</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Manage personal profile and travel preferences (budget, interests, travel dates).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Search and browse destinations.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Plan trips and create personalized itineraries.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Receive AI-based destination and package recommendations.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View maps, travel details, and itinerary summaries.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Provide feedback, ratings, and reviews for destinations or packages.</a:t>
            </a:r>
          </a:p>
          <a:p>
            <a:pPr>
              <a:lnSpc>
                <a:spcPct val="100000"/>
              </a:lnSpc>
            </a:pPr>
            <a:r>
              <a:rPr lang="en-US" sz="2000" dirty="0">
                <a:solidFill>
                  <a:srgbClr val="000000"/>
                </a:solidFill>
                <a:latin typeface="Times New Roman" panose="02020603050405020304" pitchFamily="18" charset="0"/>
                <a:cs typeface="Times New Roman" panose="02020603050405020304" pitchFamily="18" charset="0"/>
              </a:rPr>
              <a:t>Logout securely from the system.</a:t>
            </a:r>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1A9A185A-893F-D7A9-8C00-28393E1CAA02}"/>
              </a:ext>
            </a:extLst>
          </p:cNvPr>
          <p:cNvSpPr txBox="1">
            <a:spLocks/>
          </p:cNvSpPr>
          <p:nvPr/>
        </p:nvSpPr>
        <p:spPr>
          <a:xfrm>
            <a:off x="411242" y="392972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IN" sz="2200" dirty="0">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14FC65F-77EA-49BD-B8C4-D0F8E855CD89}"/>
              </a:ext>
            </a:extLst>
          </p:cNvPr>
          <p:cNvSpPr>
            <a:spLocks noChangeArrowheads="1"/>
          </p:cNvSpPr>
          <p:nvPr/>
        </p:nvSpPr>
        <p:spPr bwMode="auto">
          <a:xfrm>
            <a:off x="645605" y="831824"/>
            <a:ext cx="10900789" cy="5530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b="1" dirty="0">
                <a:latin typeface="Times New Roman" panose="02020603050405020304" pitchFamily="18" charset="0"/>
                <a:cs typeface="Times New Roman" panose="02020603050405020304" pitchFamily="18" charset="0"/>
              </a:rPr>
              <a:t>2. Admin Module: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securely with admin credentials.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 update, and delete destination information.</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 travel packages (create, edit, remove, price updates).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registered users and their activities.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View system reports such as popular destinations and bookings.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Control recommendation settings and featured packages.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 feedback and reviews submitted by users.</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Maintain system data and ensure database consistency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Logout securely from the admin panel</a:t>
            </a:r>
            <a:r>
              <a:rPr lang="en-US" dirty="0">
                <a:latin typeface="Times New Roman" panose="02020603050405020304" pitchFamily="18" charset="0"/>
                <a:cs typeface="Times New Roman" panose="02020603050405020304" pitchFamily="18" charset="0"/>
              </a:rPr>
              <a:t>.</a:t>
            </a:r>
          </a:p>
          <a:p>
            <a:pPr algn="just">
              <a:lnSpc>
                <a:spcPct val="150000"/>
              </a:lnSpc>
            </a:pPr>
            <a:r>
              <a:rPr lang="en-US"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1353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108" y="-363070"/>
            <a:ext cx="11054857" cy="2299446"/>
          </a:xfrm>
        </p:spPr>
        <p:txBody>
          <a:bodyPr>
            <a:normAutofit/>
          </a:bodyPr>
          <a:lstStyle/>
          <a:p>
            <a:pPr algn="ctr"/>
            <a:r>
              <a:rPr lang="en-US" sz="2800" b="1" dirty="0">
                <a:latin typeface="Times New Roman"/>
                <a:cs typeface="Times New Roman"/>
              </a:rPr>
              <a:t>REQUIREMENT ANALYSIS</a:t>
            </a:r>
            <a:endParaRPr lang="en-IN" sz="2800" b="1" u="sng" dirty="0">
              <a:latin typeface="Arial"/>
              <a:cs typeface="Arial"/>
            </a:endParaRPr>
          </a:p>
        </p:txBody>
      </p:sp>
      <p:sp>
        <p:nvSpPr>
          <p:cNvPr id="3" name="Content Placeholder 2"/>
          <p:cNvSpPr>
            <a:spLocks noGrp="1"/>
          </p:cNvSpPr>
          <p:nvPr>
            <p:ph idx="1"/>
          </p:nvPr>
        </p:nvSpPr>
        <p:spPr>
          <a:xfrm>
            <a:off x="765107" y="1168400"/>
            <a:ext cx="11171823" cy="5348820"/>
          </a:xfrm>
        </p:spPr>
        <p:txBody>
          <a:bodyPr vert="horz" lIns="91440" tIns="45720" rIns="91440" bIns="45720" rtlCol="0" anchor="t">
            <a:normAutofit/>
          </a:bodyPr>
          <a:lstStyle/>
          <a:p>
            <a:pPr marL="0" indent="0" algn="just">
              <a:lnSpc>
                <a:spcPct val="150000"/>
              </a:lnSpc>
              <a:buNone/>
            </a:pPr>
            <a:r>
              <a:rPr lang="en-IN" sz="2400" b="1" dirty="0">
                <a:latin typeface="Times New Roman" panose="02020603050405020304" pitchFamily="18" charset="0"/>
                <a:cs typeface="Times New Roman" panose="02020603050405020304" pitchFamily="18" charset="0"/>
              </a:rPr>
              <a:t>Non-</a:t>
            </a:r>
            <a:r>
              <a:rPr lang="en-US" sz="2400" b="1" dirty="0">
                <a:latin typeface="Times New Roman" panose="02020603050405020304" pitchFamily="18" charset="0"/>
                <a:cs typeface="Times New Roman" panose="02020603050405020304" pitchFamily="18" charset="0"/>
              </a:rPr>
              <a:t>Functional Requirements</a:t>
            </a:r>
          </a:p>
          <a:p>
            <a:pPr algn="just">
              <a:lnSpc>
                <a:spcPct val="150000"/>
              </a:lnSpc>
            </a:pPr>
            <a:r>
              <a:rPr lang="en-US" sz="2400" dirty="0">
                <a:latin typeface="Times New Roman" panose="02020603050405020304" pitchFamily="18" charset="0"/>
                <a:cs typeface="Times New Roman" panose="02020603050405020304" pitchFamily="18" charset="0"/>
              </a:rPr>
              <a:t>Performance </a:t>
            </a:r>
          </a:p>
          <a:p>
            <a:pPr algn="just">
              <a:lnSpc>
                <a:spcPct val="150000"/>
              </a:lnSpc>
            </a:pPr>
            <a:r>
              <a:rPr lang="en-US" sz="2400" dirty="0">
                <a:latin typeface="Times New Roman" panose="02020603050405020304" pitchFamily="18" charset="0"/>
                <a:cs typeface="Times New Roman" panose="02020603050405020304" pitchFamily="18" charset="0"/>
              </a:rPr>
              <a:t>Scalability</a:t>
            </a:r>
          </a:p>
          <a:p>
            <a:pPr algn="just">
              <a:lnSpc>
                <a:spcPct val="150000"/>
              </a:lnSpc>
            </a:pPr>
            <a:r>
              <a:rPr lang="en-US" sz="2400" dirty="0">
                <a:latin typeface="Times New Roman" panose="02020603050405020304" pitchFamily="18" charset="0"/>
                <a:cs typeface="Times New Roman" panose="02020603050405020304" pitchFamily="18" charset="0"/>
              </a:rPr>
              <a:t>Usability </a:t>
            </a:r>
          </a:p>
          <a:p>
            <a:pPr algn="just">
              <a:lnSpc>
                <a:spcPct val="150000"/>
              </a:lnSpc>
            </a:pPr>
            <a:r>
              <a:rPr lang="en-US" sz="2400" dirty="0">
                <a:latin typeface="Times New Roman" panose="02020603050405020304" pitchFamily="18" charset="0"/>
                <a:cs typeface="Times New Roman" panose="02020603050405020304" pitchFamily="18" charset="0"/>
              </a:rPr>
              <a:t>Maintainability</a:t>
            </a:r>
          </a:p>
          <a:p>
            <a:pPr algn="just">
              <a:lnSpc>
                <a:spcPct val="150000"/>
              </a:lnSpc>
            </a:pPr>
            <a:r>
              <a:rPr lang="en-IN" sz="2400" dirty="0">
                <a:latin typeface="Times New Roman" panose="02020603050405020304" pitchFamily="18" charset="0"/>
                <a:cs typeface="Times New Roman" panose="02020603050405020304" pitchFamily="18" charset="0"/>
              </a:rPr>
              <a:t>Security</a:t>
            </a:r>
          </a:p>
          <a:p>
            <a:pPr algn="just">
              <a:lnSpc>
                <a:spcPct val="150000"/>
              </a:lnSpc>
            </a:pPr>
            <a:endParaRPr lang="en-IN" sz="2400" dirty="0">
              <a:latin typeface="Times New Roman" panose="02020603050405020304" pitchFamily="18" charset="0"/>
              <a:cs typeface="Times New Roman" panose="02020603050405020304" pitchFamily="18" charset="0"/>
            </a:endParaRPr>
          </a:p>
          <a:p>
            <a:pPr>
              <a:lnSpc>
                <a:spcPct val="150000"/>
              </a:lnSpc>
            </a:pPr>
            <a:endParaRPr lang="en-IN" sz="2400" b="1"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D17C-3269-8106-5CCF-24DD0796419D}"/>
              </a:ext>
            </a:extLst>
          </p:cNvPr>
          <p:cNvSpPr>
            <a:spLocks noGrp="1"/>
          </p:cNvSpPr>
          <p:nvPr>
            <p:ph type="title"/>
          </p:nvPr>
        </p:nvSpPr>
        <p:spPr>
          <a:xfrm>
            <a:off x="979602" y="236276"/>
            <a:ext cx="10515600" cy="784945"/>
          </a:xfrm>
        </p:spPr>
        <p:txBody>
          <a:bodyPr>
            <a:normAutofit/>
          </a:bodyPr>
          <a:lstStyle/>
          <a:p>
            <a:pPr algn="ctr"/>
            <a:r>
              <a:rPr lang="en-US" sz="2800" b="1" dirty="0">
                <a:latin typeface="Times New Roman" pitchFamily="18" charset="0"/>
                <a:cs typeface="Times New Roman" pitchFamily="18" charset="0"/>
              </a:rPr>
              <a:t>COMPUTATIONAL RESOURCES</a:t>
            </a:r>
            <a:endParaRPr lang="en-IN" sz="2800" b="1" dirty="0"/>
          </a:p>
        </p:txBody>
      </p:sp>
      <p:sp>
        <p:nvSpPr>
          <p:cNvPr id="3" name="Content Placeholder 2">
            <a:extLst>
              <a:ext uri="{FF2B5EF4-FFF2-40B4-BE49-F238E27FC236}">
                <a16:creationId xmlns:a16="http://schemas.microsoft.com/office/drawing/2014/main" id="{3C4A2EA4-A409-A842-C5F3-494F57015581}"/>
              </a:ext>
            </a:extLst>
          </p:cNvPr>
          <p:cNvSpPr>
            <a:spLocks noGrp="1"/>
          </p:cNvSpPr>
          <p:nvPr>
            <p:ph idx="1"/>
          </p:nvPr>
        </p:nvSpPr>
        <p:spPr>
          <a:xfrm>
            <a:off x="621383" y="628749"/>
            <a:ext cx="10515600" cy="4351338"/>
          </a:xfrm>
        </p:spPr>
        <p:txBody>
          <a:bodyPr>
            <a:noAutofit/>
          </a:bodyPr>
          <a:lstStyle/>
          <a:p>
            <a:pPr marL="0" indent="0" algn="just">
              <a:lnSpc>
                <a:spcPct val="100000"/>
              </a:lnSpc>
              <a:spcBef>
                <a:spcPts val="0"/>
              </a:spcBef>
              <a:buNone/>
            </a:pPr>
            <a:endParaRPr lang="en-IN" sz="2400" b="1"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IN" sz="2400" b="1" dirty="0">
                <a:latin typeface="Times New Roman" panose="02020603050405020304" pitchFamily="18" charset="0"/>
                <a:cs typeface="Times New Roman" panose="02020603050405020304" pitchFamily="18" charset="0"/>
              </a:rPr>
              <a:t> Software Requirements: </a:t>
            </a:r>
          </a:p>
          <a:p>
            <a:pPr marL="0" indent="0">
              <a:lnSpc>
                <a:spcPct val="100000"/>
              </a:lnSpc>
              <a:buNone/>
            </a:pPr>
            <a:r>
              <a:rPr lang="en-US" sz="2000" b="1" dirty="0">
                <a:latin typeface="Times New Roman" panose="02020603050405020304" pitchFamily="18" charset="0"/>
                <a:cs typeface="Times New Roman" panose="02020603050405020304" pitchFamily="18" charset="0"/>
              </a:rPr>
              <a:t>1. Operating System: </a:t>
            </a:r>
            <a:r>
              <a:rPr lang="en-US" sz="2000" dirty="0">
                <a:latin typeface="Times New Roman" panose="02020603050405020304" pitchFamily="18" charset="0"/>
                <a:cs typeface="Times New Roman" panose="02020603050405020304" pitchFamily="18" charset="0"/>
              </a:rPr>
              <a:t>Windows 11 </a:t>
            </a:r>
          </a:p>
          <a:p>
            <a:pPr marL="0" indent="0">
              <a:lnSpc>
                <a:spcPct val="150000"/>
              </a:lnSpc>
              <a:buNone/>
            </a:pPr>
            <a:r>
              <a:rPr lang="en-IN" sz="2000" b="1" dirty="0">
                <a:latin typeface="Times New Roman" panose="02020603050405020304" pitchFamily="18" charset="0"/>
                <a:cs typeface="Times New Roman" panose="02020603050405020304" pitchFamily="18" charset="0"/>
              </a:rPr>
              <a:t>2. Frontend: </a:t>
            </a:r>
            <a:r>
              <a:rPr lang="en-IN" sz="2000" dirty="0">
                <a:latin typeface="Times New Roman" panose="02020603050405020304" pitchFamily="18" charset="0"/>
                <a:cs typeface="Times New Roman" panose="02020603050405020304" pitchFamily="18" charset="0"/>
              </a:rPr>
              <a:t>HTML, CSS, JavaScript, React Native </a:t>
            </a:r>
          </a:p>
          <a:p>
            <a:pPr marL="0" indent="0">
              <a:lnSpc>
                <a:spcPct val="150000"/>
              </a:lnSpc>
              <a:buNone/>
            </a:pPr>
            <a:r>
              <a:rPr lang="en-US" sz="2000" b="1" dirty="0">
                <a:latin typeface="Times New Roman" panose="02020603050405020304" pitchFamily="18" charset="0"/>
                <a:cs typeface="Times New Roman" panose="02020603050405020304" pitchFamily="18" charset="0"/>
              </a:rPr>
              <a:t>3. Backend Framework: </a:t>
            </a:r>
            <a:r>
              <a:rPr lang="en-US" sz="2000" dirty="0">
                <a:latin typeface="Times New Roman" panose="02020603050405020304" pitchFamily="18" charset="0"/>
                <a:cs typeface="Times New Roman" panose="02020603050405020304" pitchFamily="18" charset="0"/>
              </a:rPr>
              <a:t>Python, AI&amp;ML Libraries </a:t>
            </a:r>
          </a:p>
          <a:p>
            <a:pPr marL="0" indent="0">
              <a:lnSpc>
                <a:spcPct val="150000"/>
              </a:lnSpc>
              <a:buNone/>
            </a:pPr>
            <a:r>
              <a:rPr lang="en-IN" sz="2000" b="1" dirty="0">
                <a:latin typeface="Times New Roman" panose="02020603050405020304" pitchFamily="18" charset="0"/>
                <a:cs typeface="Times New Roman" panose="02020603050405020304" pitchFamily="18" charset="0"/>
              </a:rPr>
              <a:t>4. Database: </a:t>
            </a:r>
            <a:r>
              <a:rPr lang="en-IN" sz="2000" dirty="0">
                <a:latin typeface="Times New Roman" panose="02020603050405020304" pitchFamily="18" charset="0"/>
                <a:cs typeface="Times New Roman" panose="02020603050405020304" pitchFamily="18" charset="0"/>
              </a:rPr>
              <a:t>MySQL</a:t>
            </a:r>
            <a:endParaRPr lang="en-IN" sz="2000" b="1" dirty="0">
              <a:latin typeface="Times New Roman" panose="02020603050405020304" pitchFamily="18" charset="0"/>
              <a:cs typeface="Times New Roman" panose="02020603050405020304" pitchFamily="18" charset="0"/>
            </a:endParaRPr>
          </a:p>
          <a:p>
            <a:pPr marL="0" indent="0">
              <a:lnSpc>
                <a:spcPct val="100000"/>
              </a:lnSpc>
              <a:buNone/>
            </a:pP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400" b="1" i="0" dirty="0">
                <a:solidFill>
                  <a:srgbClr val="000000"/>
                </a:solidFill>
                <a:effectLst/>
                <a:latin typeface="Times New Roman" panose="02020603050405020304" pitchFamily="18" charset="0"/>
                <a:cs typeface="Times New Roman" panose="02020603050405020304" pitchFamily="18" charset="0"/>
              </a:rPr>
              <a:t>Hardware Requirements:</a:t>
            </a:r>
            <a:endParaRPr lang="en-IN" sz="2400" dirty="0">
              <a:latin typeface="Times New Roman" panose="02020603050405020304" pitchFamily="18" charset="0"/>
              <a:cs typeface="Times New Roman" panose="02020603050405020304" pitchFamily="18" charset="0"/>
            </a:endParaRPr>
          </a:p>
          <a:p>
            <a:pPr marL="0" indent="0">
              <a:lnSpc>
                <a:spcPct val="100000"/>
              </a:lnSpc>
              <a:buNone/>
            </a:pPr>
            <a:r>
              <a:rPr lang="en-US" sz="2000" b="1" dirty="0">
                <a:latin typeface="Times New Roman" panose="02020603050405020304" pitchFamily="18" charset="0"/>
                <a:cs typeface="Times New Roman" panose="02020603050405020304" pitchFamily="18" charset="0"/>
              </a:rPr>
              <a:t>1.Processor</a:t>
            </a:r>
            <a:r>
              <a:rPr lang="en-US" sz="2000" dirty="0">
                <a:latin typeface="Times New Roman" panose="02020603050405020304" pitchFamily="18" charset="0"/>
                <a:cs typeface="Times New Roman" panose="02020603050405020304" pitchFamily="18" charset="0"/>
              </a:rPr>
              <a:t>: Intel i7 and above </a:t>
            </a:r>
          </a:p>
          <a:p>
            <a:pPr marL="0" indent="0">
              <a:lnSpc>
                <a:spcPct val="150000"/>
              </a:lnSpc>
              <a:buNone/>
            </a:pPr>
            <a:r>
              <a:rPr lang="en-IN" sz="2000" b="1" dirty="0">
                <a:latin typeface="Times New Roman" panose="02020603050405020304" pitchFamily="18" charset="0"/>
                <a:cs typeface="Times New Roman" panose="02020603050405020304" pitchFamily="18" charset="0"/>
              </a:rPr>
              <a:t>2. RAM</a:t>
            </a:r>
            <a:r>
              <a:rPr lang="en-IN" sz="2000" dirty="0">
                <a:latin typeface="Times New Roman" panose="02020603050405020304" pitchFamily="18" charset="0"/>
                <a:cs typeface="Times New Roman" panose="02020603050405020304" pitchFamily="18" charset="0"/>
              </a:rPr>
              <a:t>: 8GB </a:t>
            </a:r>
          </a:p>
          <a:p>
            <a:pPr marL="0" indent="0">
              <a:lnSpc>
                <a:spcPct val="150000"/>
              </a:lnSpc>
              <a:buNone/>
            </a:pPr>
            <a:r>
              <a:rPr lang="en-IN" sz="2000" b="1" dirty="0">
                <a:latin typeface="Times New Roman" panose="02020603050405020304" pitchFamily="18" charset="0"/>
                <a:cs typeface="Times New Roman" panose="02020603050405020304" pitchFamily="18" charset="0"/>
              </a:rPr>
              <a:t>3. Storage</a:t>
            </a:r>
            <a:r>
              <a:rPr lang="en-IN" sz="2000" dirty="0">
                <a:latin typeface="Times New Roman" panose="02020603050405020304" pitchFamily="18" charset="0"/>
                <a:cs typeface="Times New Roman" panose="02020603050405020304" pitchFamily="18" charset="0"/>
              </a:rPr>
              <a:t>: 256GB SSD </a:t>
            </a:r>
          </a:p>
          <a:p>
            <a:pPr marL="0" indent="0">
              <a:lnSpc>
                <a:spcPct val="170000"/>
              </a:lnSpc>
              <a:spcBef>
                <a:spcPts val="0"/>
              </a:spcBef>
              <a:buNone/>
            </a:pPr>
            <a:r>
              <a:rPr lang="en-US" sz="20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735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8DEB-B1D1-2DB2-44BD-BF65D914751B}"/>
              </a:ext>
            </a:extLst>
          </p:cNvPr>
          <p:cNvSpPr>
            <a:spLocks noGrp="1"/>
          </p:cNvSpPr>
          <p:nvPr>
            <p:ph type="title"/>
          </p:nvPr>
        </p:nvSpPr>
        <p:spPr>
          <a:xfrm>
            <a:off x="838200" y="681037"/>
            <a:ext cx="10515600" cy="941161"/>
          </a:xfrm>
        </p:spPr>
        <p:txBody>
          <a:bodyPr>
            <a:normAutofit fontScale="90000"/>
          </a:bodyPr>
          <a:lstStyle/>
          <a:p>
            <a:pPr algn="ctr"/>
            <a:r>
              <a:rPr lang="en-US" sz="3100" b="1" dirty="0">
                <a:latin typeface="Times New Roman" panose="02020603050405020304" pitchFamily="18" charset="0"/>
                <a:cs typeface="Times New Roman" panose="02020603050405020304" pitchFamily="18" charset="0"/>
              </a:rPr>
              <a:t>DESIGN</a:t>
            </a:r>
            <a:br>
              <a:rPr lang="en-US" sz="5400"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EF93B4D-0EA8-6B13-01A7-B6D6070807D6}"/>
              </a:ext>
            </a:extLst>
          </p:cNvPr>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In software engineering, design refers to the structured planning of how the system will function and how different components interact with each other.</a:t>
            </a:r>
          </a:p>
          <a:p>
            <a:r>
              <a:rPr lang="en-US" sz="2000" dirty="0">
                <a:latin typeface="Times New Roman" panose="02020603050405020304" pitchFamily="18" charset="0"/>
                <a:cs typeface="Times New Roman" panose="02020603050405020304" pitchFamily="18" charset="0"/>
              </a:rPr>
              <a:t>The design of Travel partner : AI enhanced travel companion focuses to simplify</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and personalize the travel planning experience</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0627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583A49B-B72B-4F48-A909-921BE1E73452}"/>
              </a:ext>
            </a:extLst>
          </p:cNvPr>
          <p:cNvSpPr/>
          <p:nvPr/>
        </p:nvSpPr>
        <p:spPr>
          <a:xfrm>
            <a:off x="1113935" y="1706252"/>
            <a:ext cx="1567992" cy="92971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51F4F00A-0FCC-49CB-8891-BF2376751BE0}"/>
              </a:ext>
            </a:extLst>
          </p:cNvPr>
          <p:cNvSpPr/>
          <p:nvPr/>
        </p:nvSpPr>
        <p:spPr>
          <a:xfrm>
            <a:off x="1069943" y="5000122"/>
            <a:ext cx="1567992" cy="92971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2DD4EF00-5EA4-4915-B4B3-AA167F550D5E}"/>
              </a:ext>
            </a:extLst>
          </p:cNvPr>
          <p:cNvSpPr txBox="1"/>
          <p:nvPr/>
        </p:nvSpPr>
        <p:spPr>
          <a:xfrm>
            <a:off x="1334872" y="5236712"/>
            <a:ext cx="947393" cy="446276"/>
          </a:xfrm>
          <a:prstGeom prst="rect">
            <a:avLst/>
          </a:prstGeom>
          <a:noFill/>
          <a:ln>
            <a:noFill/>
          </a:ln>
        </p:spPr>
        <p:txBody>
          <a:bodyPr wrap="square" rtlCol="0">
            <a:spAutoFit/>
          </a:bodyPr>
          <a:lstStyle/>
          <a:p>
            <a:r>
              <a:rPr lang="en-US" sz="2300" b="1" dirty="0">
                <a:latin typeface="Times New Roman" panose="02020603050405020304" pitchFamily="18" charset="0"/>
                <a:cs typeface="Times New Roman" panose="02020603050405020304" pitchFamily="18" charset="0"/>
              </a:rPr>
              <a:t>User</a:t>
            </a:r>
          </a:p>
        </p:txBody>
      </p:sp>
      <p:sp>
        <p:nvSpPr>
          <p:cNvPr id="6" name="TextBox 5">
            <a:extLst>
              <a:ext uri="{FF2B5EF4-FFF2-40B4-BE49-F238E27FC236}">
                <a16:creationId xmlns:a16="http://schemas.microsoft.com/office/drawing/2014/main" id="{AB9EA0D2-46F8-4301-9968-F8944A3FC56B}"/>
              </a:ext>
            </a:extLst>
          </p:cNvPr>
          <p:cNvSpPr txBox="1"/>
          <p:nvPr/>
        </p:nvSpPr>
        <p:spPr>
          <a:xfrm>
            <a:off x="1273404" y="1894356"/>
            <a:ext cx="1216058" cy="446276"/>
          </a:xfrm>
          <a:prstGeom prst="rect">
            <a:avLst/>
          </a:prstGeom>
          <a:noFill/>
          <a:ln>
            <a:noFill/>
          </a:ln>
        </p:spPr>
        <p:txBody>
          <a:bodyPr wrap="square" rtlCol="0">
            <a:spAutoFit/>
          </a:bodyPr>
          <a:lstStyle/>
          <a:p>
            <a:r>
              <a:rPr lang="en-US" sz="2300" b="1" dirty="0">
                <a:latin typeface="Times New Roman" panose="02020603050405020304" pitchFamily="18" charset="0"/>
                <a:cs typeface="Times New Roman" panose="02020603050405020304" pitchFamily="18" charset="0"/>
              </a:rPr>
              <a:t>Admin</a:t>
            </a:r>
          </a:p>
        </p:txBody>
      </p:sp>
      <p:sp>
        <p:nvSpPr>
          <p:cNvPr id="7" name="Rectangle 6">
            <a:extLst>
              <a:ext uri="{FF2B5EF4-FFF2-40B4-BE49-F238E27FC236}">
                <a16:creationId xmlns:a16="http://schemas.microsoft.com/office/drawing/2014/main" id="{4BB8B6A9-5CC7-4328-B574-54A9DD20DBFE}"/>
              </a:ext>
            </a:extLst>
          </p:cNvPr>
          <p:cNvSpPr/>
          <p:nvPr/>
        </p:nvSpPr>
        <p:spPr>
          <a:xfrm>
            <a:off x="725865" y="1150070"/>
            <a:ext cx="2281286" cy="5279010"/>
          </a:xfrm>
          <a:prstGeom prst="rect">
            <a:avLst/>
          </a:prstGeom>
          <a:noFill/>
          <a:ln w="28575">
            <a:solidFill>
              <a:srgbClr val="1F9F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F7EBB01-F422-4F9F-9E31-B90AB1311394}"/>
              </a:ext>
            </a:extLst>
          </p:cNvPr>
          <p:cNvSpPr/>
          <p:nvPr/>
        </p:nvSpPr>
        <p:spPr>
          <a:xfrm>
            <a:off x="4219279" y="1150070"/>
            <a:ext cx="4147794" cy="5568276"/>
          </a:xfrm>
          <a:prstGeom prst="rect">
            <a:avLst/>
          </a:prstGeom>
          <a:noFill/>
          <a:ln w="28575">
            <a:solidFill>
              <a:srgbClr val="1F9F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977E73A-790A-4D79-8EF1-2C3D7745D844}"/>
              </a:ext>
            </a:extLst>
          </p:cNvPr>
          <p:cNvSpPr/>
          <p:nvPr/>
        </p:nvSpPr>
        <p:spPr>
          <a:xfrm>
            <a:off x="9398524" y="1150070"/>
            <a:ext cx="2067611" cy="5279010"/>
          </a:xfrm>
          <a:prstGeom prst="rect">
            <a:avLst/>
          </a:prstGeom>
          <a:noFill/>
          <a:ln w="28575">
            <a:solidFill>
              <a:srgbClr val="1F9F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3F6FA2DB-127C-486F-AD6B-BEE19644A47E}"/>
              </a:ext>
            </a:extLst>
          </p:cNvPr>
          <p:cNvSpPr/>
          <p:nvPr/>
        </p:nvSpPr>
        <p:spPr>
          <a:xfrm>
            <a:off x="4334954" y="1331773"/>
            <a:ext cx="3912123" cy="2272841"/>
          </a:xfrm>
          <a:prstGeom prst="roundRect">
            <a:avLst>
              <a:gd name="adj" fmla="val 640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B7CB49F1-5AF8-46DF-8D12-AB37C166BBE6}"/>
              </a:ext>
            </a:extLst>
          </p:cNvPr>
          <p:cNvSpPr/>
          <p:nvPr/>
        </p:nvSpPr>
        <p:spPr>
          <a:xfrm>
            <a:off x="4334954" y="3835470"/>
            <a:ext cx="3912123" cy="275159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A3F04296-2F1B-4BA0-8A91-6526ADE8FD1B}"/>
              </a:ext>
            </a:extLst>
          </p:cNvPr>
          <p:cNvSpPr txBox="1"/>
          <p:nvPr/>
        </p:nvSpPr>
        <p:spPr>
          <a:xfrm>
            <a:off x="4440223" y="966787"/>
            <a:ext cx="4061381" cy="1246495"/>
          </a:xfrm>
          <a:prstGeom prst="rect">
            <a:avLst/>
          </a:prstGeom>
          <a:noFill/>
        </p:spPr>
        <p:txBody>
          <a:bodyPr wrap="square" rtlCol="0">
            <a:spAutoFit/>
          </a:bodyPr>
          <a:lstStyle/>
          <a:p>
            <a:endParaRPr lang="en-US" sz="1500" b="1"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b="1"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F90C66E5-E8F6-4C3D-96A6-58A8078A337E}"/>
              </a:ext>
            </a:extLst>
          </p:cNvPr>
          <p:cNvSpPr/>
          <p:nvPr/>
        </p:nvSpPr>
        <p:spPr>
          <a:xfrm>
            <a:off x="9582346" y="3429000"/>
            <a:ext cx="1611984" cy="93133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7423A96F-B29B-472D-870B-83B78146BB38}"/>
              </a:ext>
            </a:extLst>
          </p:cNvPr>
          <p:cNvSpPr txBox="1"/>
          <p:nvPr/>
        </p:nvSpPr>
        <p:spPr>
          <a:xfrm>
            <a:off x="9763025" y="3671529"/>
            <a:ext cx="1338607" cy="446276"/>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Database</a:t>
            </a:r>
          </a:p>
        </p:txBody>
      </p:sp>
      <p:sp>
        <p:nvSpPr>
          <p:cNvPr id="16" name="TextBox 15">
            <a:extLst>
              <a:ext uri="{FF2B5EF4-FFF2-40B4-BE49-F238E27FC236}">
                <a16:creationId xmlns:a16="http://schemas.microsoft.com/office/drawing/2014/main" id="{1AFC9B6D-DDBF-4C35-82B1-E27450DBB720}"/>
              </a:ext>
            </a:extLst>
          </p:cNvPr>
          <p:cNvSpPr txBox="1"/>
          <p:nvPr/>
        </p:nvSpPr>
        <p:spPr>
          <a:xfrm>
            <a:off x="4515439" y="1331773"/>
            <a:ext cx="3355942" cy="309315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Manage Users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 new features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Monitor bookings statistics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Verify AI recommendation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Feedback &amp; Complaint Handling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Logout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0577347C-D596-4398-914E-857C029EA2FA}"/>
              </a:ext>
            </a:extLst>
          </p:cNvPr>
          <p:cNvSpPr txBox="1"/>
          <p:nvPr/>
        </p:nvSpPr>
        <p:spPr>
          <a:xfrm>
            <a:off x="619026" y="270933"/>
            <a:ext cx="1095394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SOFTWARE ARCHITECTURE</a:t>
            </a:r>
            <a:endParaRPr lang="en-US" sz="2800" b="1" u="sng" dirty="0">
              <a:latin typeface="Times New Roman" panose="02020603050405020304" pitchFamily="18" charset="0"/>
              <a:cs typeface="Times New Roman" panose="02020603050405020304" pitchFamily="18" charset="0"/>
            </a:endParaRPr>
          </a:p>
        </p:txBody>
      </p:sp>
      <p:sp>
        <p:nvSpPr>
          <p:cNvPr id="2" name="Arrow: Left-Right 1">
            <a:extLst>
              <a:ext uri="{FF2B5EF4-FFF2-40B4-BE49-F238E27FC236}">
                <a16:creationId xmlns:a16="http://schemas.microsoft.com/office/drawing/2014/main" id="{4F90673D-CF9A-867B-E421-2CE3ADD7F8C8}"/>
              </a:ext>
            </a:extLst>
          </p:cNvPr>
          <p:cNvSpPr/>
          <p:nvPr/>
        </p:nvSpPr>
        <p:spPr>
          <a:xfrm>
            <a:off x="8362754" y="1733669"/>
            <a:ext cx="1050695" cy="16068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Left-Right 21">
            <a:extLst>
              <a:ext uri="{FF2B5EF4-FFF2-40B4-BE49-F238E27FC236}">
                <a16:creationId xmlns:a16="http://schemas.microsoft.com/office/drawing/2014/main" id="{AF427C71-3D56-B9C4-B8BE-2112D523CB42}"/>
              </a:ext>
            </a:extLst>
          </p:cNvPr>
          <p:cNvSpPr/>
          <p:nvPr/>
        </p:nvSpPr>
        <p:spPr>
          <a:xfrm>
            <a:off x="8362752" y="5076026"/>
            <a:ext cx="1050694" cy="16068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BE998C58-335F-3C40-446C-AA57C5B262F0}"/>
              </a:ext>
            </a:extLst>
          </p:cNvPr>
          <p:cNvSpPr txBox="1"/>
          <p:nvPr/>
        </p:nvSpPr>
        <p:spPr>
          <a:xfrm>
            <a:off x="4743746" y="4221050"/>
            <a:ext cx="3170546" cy="2308324"/>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Register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Login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Search destination</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AI based travel planning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 Booking</a:t>
            </a: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Make payment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Review &amp; Feedback</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Logout</a:t>
            </a:r>
          </a:p>
        </p:txBody>
      </p:sp>
      <p:sp>
        <p:nvSpPr>
          <p:cNvPr id="13" name="Arrow: Left-Right 12">
            <a:extLst>
              <a:ext uri="{FF2B5EF4-FFF2-40B4-BE49-F238E27FC236}">
                <a16:creationId xmlns:a16="http://schemas.microsoft.com/office/drawing/2014/main" id="{CDA894B5-7150-10C5-D372-DE0C4CDEE4B4}"/>
              </a:ext>
            </a:extLst>
          </p:cNvPr>
          <p:cNvSpPr/>
          <p:nvPr/>
        </p:nvSpPr>
        <p:spPr>
          <a:xfrm>
            <a:off x="3040537" y="2117494"/>
            <a:ext cx="1145355" cy="16068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Left-Right 22">
            <a:extLst>
              <a:ext uri="{FF2B5EF4-FFF2-40B4-BE49-F238E27FC236}">
                <a16:creationId xmlns:a16="http://schemas.microsoft.com/office/drawing/2014/main" id="{0F1702D4-12B6-B1A0-10E6-1C1CB79A4DD0}"/>
              </a:ext>
            </a:extLst>
          </p:cNvPr>
          <p:cNvSpPr/>
          <p:nvPr/>
        </p:nvSpPr>
        <p:spPr>
          <a:xfrm>
            <a:off x="3040537" y="5260391"/>
            <a:ext cx="1145355" cy="160685"/>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98166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2E9FF-0D97-93A8-B019-44E37245A649}"/>
              </a:ext>
            </a:extLst>
          </p:cNvPr>
          <p:cNvSpPr>
            <a:spLocks noGrp="1"/>
          </p:cNvSpPr>
          <p:nvPr>
            <p:ph type="title"/>
          </p:nvPr>
        </p:nvSpPr>
        <p:spPr>
          <a:xfrm>
            <a:off x="838200" y="365125"/>
            <a:ext cx="10515600" cy="941161"/>
          </a:xfrm>
        </p:spPr>
        <p:txBody>
          <a:bodyPr>
            <a:normAutofit/>
          </a:bodyPr>
          <a:lstStyle/>
          <a:p>
            <a:pPr algn="ctr"/>
            <a:r>
              <a:rPr lang="en-IN" sz="2800" b="1" dirty="0">
                <a:latin typeface="Times New Roman" panose="02020603050405020304" pitchFamily="18" charset="0"/>
                <a:cs typeface="Times New Roman" panose="02020603050405020304" pitchFamily="18" charset="0"/>
              </a:rPr>
              <a:t>TECHNICAL ARCHITECTURE</a:t>
            </a:r>
          </a:p>
        </p:txBody>
      </p:sp>
      <p:sp>
        <p:nvSpPr>
          <p:cNvPr id="4" name="Rectangle 3">
            <a:extLst>
              <a:ext uri="{FF2B5EF4-FFF2-40B4-BE49-F238E27FC236}">
                <a16:creationId xmlns:a16="http://schemas.microsoft.com/office/drawing/2014/main" id="{301657F7-4CF8-D3CA-340D-F660413DCEB5}"/>
              </a:ext>
            </a:extLst>
          </p:cNvPr>
          <p:cNvSpPr/>
          <p:nvPr/>
        </p:nvSpPr>
        <p:spPr>
          <a:xfrm>
            <a:off x="1337733" y="2087034"/>
            <a:ext cx="2599268" cy="25061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solidFill>
                  <a:schemeClr val="tx1"/>
                </a:solidFill>
                <a:latin typeface="Times New Roman" panose="02020603050405020304" pitchFamily="18" charset="0"/>
                <a:cs typeface="Times New Roman" panose="02020603050405020304" pitchFamily="18" charset="0"/>
              </a:rPr>
              <a:t>React,JS</a:t>
            </a:r>
            <a:r>
              <a:rPr lang="en-US" dirty="0">
                <a:solidFill>
                  <a:schemeClr val="tx1"/>
                </a:solidFill>
                <a:latin typeface="Times New Roman" panose="02020603050405020304" pitchFamily="18" charset="0"/>
                <a:cs typeface="Times New Roman" panose="02020603050405020304" pitchFamily="18" charset="0"/>
              </a:rPr>
              <a:t>,</a:t>
            </a:r>
          </a:p>
          <a:p>
            <a:pPr algn="ctr"/>
            <a:r>
              <a:rPr lang="en-US" dirty="0">
                <a:solidFill>
                  <a:schemeClr val="tx1"/>
                </a:solidFill>
                <a:latin typeface="Times New Roman" panose="02020603050405020304" pitchFamily="18" charset="0"/>
                <a:cs typeface="Times New Roman" panose="02020603050405020304" pitchFamily="18" charset="0"/>
              </a:rPr>
              <a:t>HTML,</a:t>
            </a:r>
          </a:p>
          <a:p>
            <a:pPr algn="ctr"/>
            <a:r>
              <a:rPr lang="en-US" dirty="0">
                <a:solidFill>
                  <a:schemeClr val="tx1"/>
                </a:solidFill>
                <a:latin typeface="Times New Roman" panose="02020603050405020304" pitchFamily="18" charset="0"/>
                <a:cs typeface="Times New Roman" panose="02020603050405020304" pitchFamily="18" charset="0"/>
              </a:rPr>
              <a:t>CSS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CA45050-7E17-EE7F-673A-EE3ABE471B54}"/>
              </a:ext>
            </a:extLst>
          </p:cNvPr>
          <p:cNvSpPr/>
          <p:nvPr/>
        </p:nvSpPr>
        <p:spPr>
          <a:xfrm>
            <a:off x="5037667" y="2087034"/>
            <a:ext cx="2506133" cy="25781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Python,</a:t>
            </a:r>
          </a:p>
          <a:p>
            <a:pPr algn="ctr"/>
            <a:r>
              <a:rPr lang="en-US" dirty="0">
                <a:solidFill>
                  <a:schemeClr val="tx1"/>
                </a:solidFill>
                <a:latin typeface="Times New Roman" panose="02020603050405020304" pitchFamily="18" charset="0"/>
                <a:cs typeface="Times New Roman" panose="02020603050405020304" pitchFamily="18" charset="0"/>
              </a:rPr>
              <a:t>AIML Libraries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99D89B6-14C3-4ADC-D3B6-09597514418B}"/>
              </a:ext>
            </a:extLst>
          </p:cNvPr>
          <p:cNvSpPr/>
          <p:nvPr/>
        </p:nvSpPr>
        <p:spPr>
          <a:xfrm>
            <a:off x="8627533" y="2087033"/>
            <a:ext cx="2506133" cy="25781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MySQL</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7" name="Arrow: Left-Right 6">
            <a:extLst>
              <a:ext uri="{FF2B5EF4-FFF2-40B4-BE49-F238E27FC236}">
                <a16:creationId xmlns:a16="http://schemas.microsoft.com/office/drawing/2014/main" id="{BE69DFB9-0D67-860C-36DA-D0B87D61F4F4}"/>
              </a:ext>
            </a:extLst>
          </p:cNvPr>
          <p:cNvSpPr/>
          <p:nvPr/>
        </p:nvSpPr>
        <p:spPr>
          <a:xfrm>
            <a:off x="3937001" y="3315759"/>
            <a:ext cx="1100666" cy="12065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Left-Right 7">
            <a:extLst>
              <a:ext uri="{FF2B5EF4-FFF2-40B4-BE49-F238E27FC236}">
                <a16:creationId xmlns:a16="http://schemas.microsoft.com/office/drawing/2014/main" id="{FEB98EFC-56C6-6130-BE6F-26B868D1CFBE}"/>
              </a:ext>
            </a:extLst>
          </p:cNvPr>
          <p:cNvSpPr/>
          <p:nvPr/>
        </p:nvSpPr>
        <p:spPr>
          <a:xfrm>
            <a:off x="7560733" y="3308350"/>
            <a:ext cx="1083733" cy="12065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26117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201A8-F22E-C483-1996-FA9E265AEC8A}"/>
              </a:ext>
            </a:extLst>
          </p:cNvPr>
          <p:cNvSpPr>
            <a:spLocks noGrp="1"/>
          </p:cNvSpPr>
          <p:nvPr>
            <p:ph type="title"/>
          </p:nvPr>
        </p:nvSpPr>
        <p:spPr>
          <a:xfrm>
            <a:off x="838200" y="365126"/>
            <a:ext cx="10515600" cy="886732"/>
          </a:xfrm>
        </p:spPr>
        <p:txBody>
          <a:bodyPr>
            <a:normAutofit/>
          </a:bodyPr>
          <a:lstStyle/>
          <a:p>
            <a:pPr algn="ctr"/>
            <a:r>
              <a:rPr lang="en-IN" sz="3600" dirty="0">
                <a:latin typeface="Times New Roman" panose="02020603050405020304" pitchFamily="18" charset="0"/>
                <a:cs typeface="Times New Roman" panose="02020603050405020304" pitchFamily="18" charset="0"/>
              </a:rPr>
              <a:t>SOFTWARE PROCESS MODEL</a:t>
            </a:r>
          </a:p>
        </p:txBody>
      </p:sp>
      <p:pic>
        <p:nvPicPr>
          <p:cNvPr id="4" name="Picture 3">
            <a:extLst>
              <a:ext uri="{FF2B5EF4-FFF2-40B4-BE49-F238E27FC236}">
                <a16:creationId xmlns:a16="http://schemas.microsoft.com/office/drawing/2014/main" id="{6BB209C9-49E0-7D1A-8ABA-D815C4DF1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6550" y="1166812"/>
            <a:ext cx="6438900" cy="4524375"/>
          </a:xfrm>
          <a:prstGeom prst="rect">
            <a:avLst/>
          </a:prstGeom>
        </p:spPr>
      </p:pic>
    </p:spTree>
    <p:extLst>
      <p:ext uri="{BB962C8B-B14F-4D97-AF65-F5344CB8AC3E}">
        <p14:creationId xmlns:p14="http://schemas.microsoft.com/office/powerpoint/2010/main" val="158900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71096-6919-EA98-83E7-E9F45C8895E8}"/>
              </a:ext>
            </a:extLst>
          </p:cNvPr>
          <p:cNvSpPr>
            <a:spLocks noGrp="1"/>
          </p:cNvSpPr>
          <p:nvPr>
            <p:ph type="title"/>
          </p:nvPr>
        </p:nvSpPr>
        <p:spPr>
          <a:xfrm>
            <a:off x="838200" y="365125"/>
            <a:ext cx="10515600" cy="766989"/>
          </a:xfrm>
        </p:spPr>
        <p:txBody>
          <a:bodyPr>
            <a:normAutofit/>
          </a:bodyPr>
          <a:lstStyle/>
          <a:p>
            <a:pPr algn="ctr"/>
            <a:r>
              <a:rPr lang="en-IN" sz="3600" dirty="0">
                <a:latin typeface="Times New Roman" panose="02020603050405020304" pitchFamily="18" charset="0"/>
                <a:cs typeface="Times New Roman" panose="02020603050405020304" pitchFamily="18" charset="0"/>
              </a:rPr>
              <a:t>UML DIAGRAMS</a:t>
            </a:r>
          </a:p>
        </p:txBody>
      </p:sp>
      <p:sp>
        <p:nvSpPr>
          <p:cNvPr id="6" name="TextBox 5">
            <a:extLst>
              <a:ext uri="{FF2B5EF4-FFF2-40B4-BE49-F238E27FC236}">
                <a16:creationId xmlns:a16="http://schemas.microsoft.com/office/drawing/2014/main" id="{CF2DBC99-F9B8-412B-A055-EE16D480F4EC}"/>
              </a:ext>
            </a:extLst>
          </p:cNvPr>
          <p:cNvSpPr txBox="1"/>
          <p:nvPr/>
        </p:nvSpPr>
        <p:spPr>
          <a:xfrm>
            <a:off x="979714" y="1126480"/>
            <a:ext cx="609600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Use case diagram for admin:</a:t>
            </a:r>
          </a:p>
        </p:txBody>
      </p:sp>
      <p:pic>
        <p:nvPicPr>
          <p:cNvPr id="11" name="Picture 10">
            <a:extLst>
              <a:ext uri="{FF2B5EF4-FFF2-40B4-BE49-F238E27FC236}">
                <a16:creationId xmlns:a16="http://schemas.microsoft.com/office/drawing/2014/main" id="{95FCC1F5-45B4-ABF3-4499-E02FCF9953EB}"/>
              </a:ext>
            </a:extLst>
          </p:cNvPr>
          <p:cNvPicPr>
            <a:picLocks noChangeAspect="1"/>
          </p:cNvPicPr>
          <p:nvPr/>
        </p:nvPicPr>
        <p:blipFill>
          <a:blip r:embed="rId2"/>
          <a:stretch>
            <a:fillRect/>
          </a:stretch>
        </p:blipFill>
        <p:spPr>
          <a:xfrm>
            <a:off x="3886199" y="2149364"/>
            <a:ext cx="6256225" cy="3800477"/>
          </a:xfrm>
          <a:prstGeom prst="rect">
            <a:avLst/>
          </a:prstGeom>
        </p:spPr>
      </p:pic>
    </p:spTree>
    <p:extLst>
      <p:ext uri="{BB962C8B-B14F-4D97-AF65-F5344CB8AC3E}">
        <p14:creationId xmlns:p14="http://schemas.microsoft.com/office/powerpoint/2010/main" val="200516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4697F0-174C-F67A-C9C8-6639EE9A84FF}"/>
              </a:ext>
            </a:extLst>
          </p:cNvPr>
          <p:cNvSpPr txBox="1"/>
          <p:nvPr/>
        </p:nvSpPr>
        <p:spPr>
          <a:xfrm>
            <a:off x="685800" y="515035"/>
            <a:ext cx="6096000" cy="83099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Use case diagram for User</a:t>
            </a:r>
          </a:p>
          <a:p>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3198DF-18DB-EEDD-2604-71B97A029DF3}"/>
              </a:ext>
            </a:extLst>
          </p:cNvPr>
          <p:cNvPicPr>
            <a:picLocks noChangeAspect="1"/>
          </p:cNvPicPr>
          <p:nvPr/>
        </p:nvPicPr>
        <p:blipFill>
          <a:blip r:embed="rId2"/>
          <a:stretch>
            <a:fillRect/>
          </a:stretch>
        </p:blipFill>
        <p:spPr>
          <a:xfrm>
            <a:off x="4538133" y="1515532"/>
            <a:ext cx="5638800" cy="4461935"/>
          </a:xfrm>
          <a:prstGeom prst="rect">
            <a:avLst/>
          </a:prstGeom>
        </p:spPr>
      </p:pic>
    </p:spTree>
    <p:extLst>
      <p:ext uri="{BB962C8B-B14F-4D97-AF65-F5344CB8AC3E}">
        <p14:creationId xmlns:p14="http://schemas.microsoft.com/office/powerpoint/2010/main" val="88025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9B6CF6C-63E3-F7B5-6011-92B759304583}"/>
              </a:ext>
            </a:extLst>
          </p:cNvPr>
          <p:cNvSpPr txBox="1"/>
          <p:nvPr/>
        </p:nvSpPr>
        <p:spPr>
          <a:xfrm>
            <a:off x="489857" y="326963"/>
            <a:ext cx="609600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Class diagram</a:t>
            </a:r>
          </a:p>
        </p:txBody>
      </p:sp>
      <p:pic>
        <p:nvPicPr>
          <p:cNvPr id="6" name="Picture 5">
            <a:extLst>
              <a:ext uri="{FF2B5EF4-FFF2-40B4-BE49-F238E27FC236}">
                <a16:creationId xmlns:a16="http://schemas.microsoft.com/office/drawing/2014/main" id="{87ADE6EB-E725-90CF-1BB9-34C16B2122A1}"/>
              </a:ext>
            </a:extLst>
          </p:cNvPr>
          <p:cNvPicPr>
            <a:picLocks noChangeAspect="1"/>
          </p:cNvPicPr>
          <p:nvPr/>
        </p:nvPicPr>
        <p:blipFill>
          <a:blip r:embed="rId2"/>
          <a:stretch>
            <a:fillRect/>
          </a:stretch>
        </p:blipFill>
        <p:spPr>
          <a:xfrm>
            <a:off x="973667" y="1230991"/>
            <a:ext cx="10524066" cy="5195636"/>
          </a:xfrm>
          <a:prstGeom prst="rect">
            <a:avLst/>
          </a:prstGeom>
        </p:spPr>
      </p:pic>
    </p:spTree>
    <p:extLst>
      <p:ext uri="{BB962C8B-B14F-4D97-AF65-F5344CB8AC3E}">
        <p14:creationId xmlns:p14="http://schemas.microsoft.com/office/powerpoint/2010/main" val="3415544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6CB816C-53E8-3681-062F-1B04F085BA1A}"/>
              </a:ext>
            </a:extLst>
          </p:cNvPr>
          <p:cNvSpPr txBox="1"/>
          <p:nvPr/>
        </p:nvSpPr>
        <p:spPr>
          <a:xfrm>
            <a:off x="381000" y="246626"/>
            <a:ext cx="609600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Sequence diagram for user :</a:t>
            </a:r>
          </a:p>
        </p:txBody>
      </p:sp>
      <p:pic>
        <p:nvPicPr>
          <p:cNvPr id="5" name="Picture 4">
            <a:extLst>
              <a:ext uri="{FF2B5EF4-FFF2-40B4-BE49-F238E27FC236}">
                <a16:creationId xmlns:a16="http://schemas.microsoft.com/office/drawing/2014/main" id="{FAB8FF4D-767F-068B-8850-343BEFBC44AE}"/>
              </a:ext>
            </a:extLst>
          </p:cNvPr>
          <p:cNvPicPr>
            <a:picLocks noChangeAspect="1"/>
          </p:cNvPicPr>
          <p:nvPr/>
        </p:nvPicPr>
        <p:blipFill>
          <a:blip r:embed="rId2"/>
          <a:stretch>
            <a:fillRect/>
          </a:stretch>
        </p:blipFill>
        <p:spPr>
          <a:xfrm>
            <a:off x="4197745" y="922867"/>
            <a:ext cx="4981841" cy="5539017"/>
          </a:xfrm>
          <a:prstGeom prst="rect">
            <a:avLst/>
          </a:prstGeom>
        </p:spPr>
      </p:pic>
    </p:spTree>
    <p:extLst>
      <p:ext uri="{BB962C8B-B14F-4D97-AF65-F5344CB8AC3E}">
        <p14:creationId xmlns:p14="http://schemas.microsoft.com/office/powerpoint/2010/main" val="24299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5F8A1-E976-A4D7-6E5C-FC2E319A67F2}"/>
              </a:ext>
            </a:extLst>
          </p:cNvPr>
          <p:cNvSpPr>
            <a:spLocks noGrp="1"/>
          </p:cNvSpPr>
          <p:nvPr>
            <p:ph type="title"/>
          </p:nvPr>
        </p:nvSpPr>
        <p:spPr>
          <a:xfrm>
            <a:off x="838200" y="365126"/>
            <a:ext cx="10515600" cy="659341"/>
          </a:xfrm>
        </p:spPr>
        <p:txBody>
          <a:bodyPr>
            <a:normAutofit/>
          </a:bodyPr>
          <a:lstStyle/>
          <a:p>
            <a:r>
              <a:rPr lang="en-IN" sz="2400" dirty="0">
                <a:latin typeface="Times New Roman" panose="02020603050405020304" pitchFamily="18" charset="0"/>
                <a:cs typeface="Times New Roman" panose="02020603050405020304" pitchFamily="18" charset="0"/>
              </a:rPr>
              <a:t>Sequence diagram for admin</a:t>
            </a:r>
          </a:p>
        </p:txBody>
      </p:sp>
      <p:pic>
        <p:nvPicPr>
          <p:cNvPr id="5" name="Picture 4">
            <a:extLst>
              <a:ext uri="{FF2B5EF4-FFF2-40B4-BE49-F238E27FC236}">
                <a16:creationId xmlns:a16="http://schemas.microsoft.com/office/drawing/2014/main" id="{82F7F8F1-4EA0-6CCA-BDA0-70A55D7ED04B}"/>
              </a:ext>
            </a:extLst>
          </p:cNvPr>
          <p:cNvPicPr>
            <a:picLocks noChangeAspect="1"/>
          </p:cNvPicPr>
          <p:nvPr/>
        </p:nvPicPr>
        <p:blipFill>
          <a:blip r:embed="rId2"/>
          <a:stretch>
            <a:fillRect/>
          </a:stretch>
        </p:blipFill>
        <p:spPr>
          <a:xfrm>
            <a:off x="4590417" y="905934"/>
            <a:ext cx="5940631" cy="5418667"/>
          </a:xfrm>
          <a:prstGeom prst="rect">
            <a:avLst/>
          </a:prstGeom>
        </p:spPr>
      </p:pic>
    </p:spTree>
    <p:extLst>
      <p:ext uri="{BB962C8B-B14F-4D97-AF65-F5344CB8AC3E}">
        <p14:creationId xmlns:p14="http://schemas.microsoft.com/office/powerpoint/2010/main" val="3194020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828D-DE5D-9AFF-8939-FC9ADF324D08}"/>
              </a:ext>
            </a:extLst>
          </p:cNvPr>
          <p:cNvSpPr>
            <a:spLocks noGrp="1"/>
          </p:cNvSpPr>
          <p:nvPr>
            <p:ph type="title"/>
          </p:nvPr>
        </p:nvSpPr>
        <p:spPr>
          <a:xfrm>
            <a:off x="838200" y="289039"/>
            <a:ext cx="10515600" cy="908504"/>
          </a:xfrm>
        </p:spPr>
        <p:txBody>
          <a:bodyPr>
            <a:normAutofit/>
          </a:bodyPr>
          <a:lstStyle/>
          <a:p>
            <a:r>
              <a:rPr lang="en-US" sz="2000" b="1" dirty="0">
                <a:latin typeface="Times New Roman" panose="02020603050405020304" pitchFamily="18" charset="0"/>
                <a:cs typeface="Times New Roman" panose="02020603050405020304" pitchFamily="18" charset="0"/>
              </a:rPr>
              <a:t>Implementation Flow - TRAVEL PARTNER:AI ENHANCED TRAVEL COMPANION </a:t>
            </a: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2CD794-A1B1-86FA-BE1C-70F39C7B7914}"/>
              </a:ext>
            </a:extLst>
          </p:cNvPr>
          <p:cNvSpPr>
            <a:spLocks noGrp="1"/>
          </p:cNvSpPr>
          <p:nvPr>
            <p:ph idx="1"/>
          </p:nvPr>
        </p:nvSpPr>
        <p:spPr>
          <a:xfrm>
            <a:off x="533400" y="1309346"/>
            <a:ext cx="11125200" cy="5320054"/>
          </a:xfrm>
        </p:spPr>
        <p:txBody>
          <a:bodyPr>
            <a:noAutofit/>
          </a:bodyPr>
          <a:lstStyle/>
          <a:p>
            <a:pPr algn="just">
              <a:lnSpc>
                <a:spcPct val="100000"/>
              </a:lnSpc>
            </a:pPr>
            <a:r>
              <a:rPr lang="en-US" sz="2000" b="1" dirty="0">
                <a:latin typeface="Times New Roman" panose="02020603050405020304" pitchFamily="18" charset="0"/>
                <a:cs typeface="Times New Roman" panose="02020603050405020304" pitchFamily="18" charset="0"/>
              </a:rPr>
              <a:t>Step 1: User Opens the Application </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User accesses the Travel AI web/mobile application.</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The welcome page displays project overview with Login and Register options.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Featured destinations and AI travel highlights are shown.</a:t>
            </a:r>
          </a:p>
          <a:p>
            <a:pPr algn="just">
              <a:lnSpc>
                <a:spcPct val="100000"/>
              </a:lnSpc>
            </a:pPr>
            <a:r>
              <a:rPr lang="en-US" sz="2000" b="1" dirty="0">
                <a:latin typeface="Times New Roman" panose="02020603050405020304" pitchFamily="18" charset="0"/>
                <a:cs typeface="Times New Roman" panose="02020603050405020304" pitchFamily="18" charset="0"/>
              </a:rPr>
              <a:t>Step 2: User Registration / Login</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New users create an account by entering personal details and travel preferences.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Existing users log in using their credentials.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After authentication, the system redirects the user to the dashboard.</a:t>
            </a:r>
          </a:p>
          <a:p>
            <a:pPr algn="just">
              <a:lnSpc>
                <a:spcPct val="100000"/>
              </a:lnSpc>
            </a:pPr>
            <a:r>
              <a:rPr lang="en-US" sz="2000" b="1" dirty="0">
                <a:latin typeface="Times New Roman" panose="02020603050405020304" pitchFamily="18" charset="0"/>
                <a:cs typeface="Times New Roman" panose="02020603050405020304" pitchFamily="18" charset="0"/>
              </a:rPr>
              <a:t>Step 3: Travel Preference Entry</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User enters trip details such as destination, budget, travel dates, number of travelers, and interests.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User may select preferences like adventure, relaxation, cultural trips, etc.</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The system stores input data for AI processing.</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866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F51FC-A21B-0164-9972-2904805DA715}"/>
              </a:ext>
            </a:extLst>
          </p:cNvPr>
          <p:cNvSpPr>
            <a:spLocks noGrp="1"/>
          </p:cNvSpPr>
          <p:nvPr>
            <p:ph idx="1"/>
          </p:nvPr>
        </p:nvSpPr>
        <p:spPr>
          <a:xfrm>
            <a:off x="707571" y="211667"/>
            <a:ext cx="10929258" cy="5965296"/>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Step 4: AI Itinerary Generation</a:t>
            </a:r>
          </a:p>
          <a:p>
            <a:r>
              <a:rPr lang="en-US" sz="2000" dirty="0">
                <a:latin typeface="Times New Roman" panose="02020603050405020304" pitchFamily="18" charset="0"/>
                <a:cs typeface="Times New Roman" panose="02020603050405020304" pitchFamily="18" charset="0"/>
              </a:rPr>
              <a:t>The AI module analyzes user inputs.</a:t>
            </a:r>
          </a:p>
          <a:p>
            <a:r>
              <a:rPr lang="en-US" sz="2000" dirty="0">
                <a:latin typeface="Times New Roman" panose="02020603050405020304" pitchFamily="18" charset="0"/>
                <a:cs typeface="Times New Roman" panose="02020603050405020304" pitchFamily="18" charset="0"/>
              </a:rPr>
              <a:t> The system generates a personalized day-by-day travel itinerary.</a:t>
            </a:r>
          </a:p>
          <a:p>
            <a:r>
              <a:rPr lang="en-US" sz="2000" dirty="0">
                <a:latin typeface="Times New Roman" panose="02020603050405020304" pitchFamily="18" charset="0"/>
                <a:cs typeface="Times New Roman" panose="02020603050405020304" pitchFamily="18" charset="0"/>
              </a:rPr>
              <a:t> Estimated budget breakdown and activity suggestions are displayed.</a:t>
            </a:r>
          </a:p>
          <a:p>
            <a:pPr marL="0" indent="0">
              <a:buNone/>
            </a:pPr>
            <a:r>
              <a:rPr lang="en-US" sz="2000" b="1" dirty="0">
                <a:latin typeface="Times New Roman" panose="02020603050405020304" pitchFamily="18" charset="0"/>
                <a:cs typeface="Times New Roman" panose="02020603050405020304" pitchFamily="18" charset="0"/>
              </a:rPr>
              <a:t>Step 5: Destination Recommendation &amp; Comparison</a:t>
            </a:r>
          </a:p>
          <a:p>
            <a:r>
              <a:rPr lang="en-US" sz="2000" dirty="0">
                <a:latin typeface="Times New Roman" panose="02020603050405020304" pitchFamily="18" charset="0"/>
                <a:cs typeface="Times New Roman" panose="02020603050405020304" pitchFamily="18" charset="0"/>
              </a:rPr>
              <a:t>The system suggests alternative destinations based on user preferences.</a:t>
            </a:r>
          </a:p>
          <a:p>
            <a:r>
              <a:rPr lang="en-US" sz="2000" dirty="0">
                <a:latin typeface="Times New Roman" panose="02020603050405020304" pitchFamily="18" charset="0"/>
                <a:cs typeface="Times New Roman" panose="02020603050405020304" pitchFamily="18" charset="0"/>
              </a:rPr>
              <a:t>User can compare destinations based on : Budget ,Weather, Popular attractions, Travel duration</a:t>
            </a:r>
          </a:p>
          <a:p>
            <a:r>
              <a:rPr lang="en-US" sz="2000" dirty="0">
                <a:latin typeface="Times New Roman" panose="02020603050405020304" pitchFamily="18" charset="0"/>
                <a:cs typeface="Times New Roman" panose="02020603050405020304" pitchFamily="18" charset="0"/>
              </a:rPr>
              <a:t> Smart recommendations are shown using AI analysis.</a:t>
            </a:r>
          </a:p>
          <a:p>
            <a:pPr marL="0" indent="0">
              <a:buNone/>
            </a:pPr>
            <a:r>
              <a:rPr lang="en-US" sz="2000" b="1" dirty="0">
                <a:latin typeface="Times New Roman" panose="02020603050405020304" pitchFamily="18" charset="0"/>
                <a:cs typeface="Times New Roman" panose="02020603050405020304" pitchFamily="18" charset="0"/>
              </a:rPr>
              <a:t>Step 6: Booking Assistance &amp; Plan Customization</a:t>
            </a:r>
          </a:p>
          <a:p>
            <a:r>
              <a:rPr lang="en-US" sz="2000" dirty="0">
                <a:latin typeface="Times New Roman" panose="02020603050405020304" pitchFamily="18" charset="0"/>
                <a:cs typeface="Times New Roman" panose="02020603050405020304" pitchFamily="18" charset="0"/>
              </a:rPr>
              <a:t>User can modify itinerary (add/remove places).</a:t>
            </a:r>
          </a:p>
          <a:p>
            <a:r>
              <a:rPr lang="en-US" sz="2000" dirty="0">
                <a:latin typeface="Times New Roman" panose="02020603050405020304" pitchFamily="18" charset="0"/>
                <a:cs typeface="Times New Roman" panose="02020603050405020304" pitchFamily="18" charset="0"/>
              </a:rPr>
              <a:t>The system provides hotel, transport, and activity suggestions.</a:t>
            </a:r>
          </a:p>
          <a:p>
            <a:r>
              <a:rPr lang="en-US" sz="2000" dirty="0">
                <a:latin typeface="Times New Roman" panose="02020603050405020304" pitchFamily="18" charset="0"/>
                <a:cs typeface="Times New Roman" panose="02020603050405020304" pitchFamily="18" charset="0"/>
              </a:rPr>
              <a:t>Updated cost estimation is generated dynamically.</a:t>
            </a:r>
          </a:p>
          <a:p>
            <a:pPr marL="0" indent="0">
              <a:buNone/>
            </a:pPr>
            <a:r>
              <a:rPr lang="en-US" sz="2000" b="1" dirty="0">
                <a:latin typeface="Times New Roman" panose="02020603050405020304" pitchFamily="18" charset="0"/>
                <a:cs typeface="Times New Roman" panose="02020603050405020304" pitchFamily="18" charset="0"/>
              </a:rPr>
              <a:t>Step 7: Save Trip, Progress Tracking &amp; Logout</a:t>
            </a:r>
          </a:p>
          <a:p>
            <a:r>
              <a:rPr lang="en-US" sz="2000" dirty="0">
                <a:latin typeface="Times New Roman" panose="02020603050405020304" pitchFamily="18" charset="0"/>
                <a:cs typeface="Times New Roman" panose="02020603050405020304" pitchFamily="18" charset="0"/>
              </a:rPr>
              <a:t>User can save trip plans for future access.</a:t>
            </a:r>
          </a:p>
          <a:p>
            <a:r>
              <a:rPr lang="en-US" sz="2000" dirty="0">
                <a:latin typeface="Times New Roman" panose="02020603050405020304" pitchFamily="18" charset="0"/>
                <a:cs typeface="Times New Roman" panose="02020603050405020304" pitchFamily="18" charset="0"/>
              </a:rPr>
              <a:t>Travel history and upcoming trips are stored securely.</a:t>
            </a:r>
          </a:p>
          <a:p>
            <a:r>
              <a:rPr lang="en-US" sz="2000" dirty="0">
                <a:latin typeface="Times New Roman" panose="02020603050405020304" pitchFamily="18" charset="0"/>
                <a:cs typeface="Times New Roman" panose="02020603050405020304" pitchFamily="18" charset="0"/>
              </a:rPr>
              <a:t> User can track trip progress and log out safely.</a:t>
            </a:r>
          </a:p>
        </p:txBody>
      </p:sp>
    </p:spTree>
    <p:extLst>
      <p:ext uri="{BB962C8B-B14F-4D97-AF65-F5344CB8AC3E}">
        <p14:creationId xmlns:p14="http://schemas.microsoft.com/office/powerpoint/2010/main" val="3248430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A405-7D13-7C4B-3974-CC453EDFBF2E}"/>
              </a:ext>
            </a:extLst>
          </p:cNvPr>
          <p:cNvSpPr>
            <a:spLocks noGrp="1"/>
          </p:cNvSpPr>
          <p:nvPr>
            <p:ph type="title"/>
          </p:nvPr>
        </p:nvSpPr>
        <p:spPr>
          <a:xfrm>
            <a:off x="838200" y="365125"/>
            <a:ext cx="10515600" cy="995589"/>
          </a:xfrm>
        </p:spPr>
        <p:txBody>
          <a:bodyPr>
            <a:normAutofit/>
          </a:bodyPr>
          <a:lstStyle/>
          <a:p>
            <a:pPr algn="ctr"/>
            <a:r>
              <a:rPr lang="en-IN" sz="3600" dirty="0">
                <a:latin typeface="Times New Roman" panose="02020603050405020304" pitchFamily="18" charset="0"/>
                <a:cs typeface="Times New Roman" panose="02020603050405020304" pitchFamily="18" charset="0"/>
              </a:rPr>
              <a:t>ALOGORITHMS USED</a:t>
            </a:r>
            <a:endParaRPr lang="en-IN" sz="3600" dirty="0"/>
          </a:p>
        </p:txBody>
      </p:sp>
      <p:sp>
        <p:nvSpPr>
          <p:cNvPr id="3" name="Content Placeholder 2">
            <a:extLst>
              <a:ext uri="{FF2B5EF4-FFF2-40B4-BE49-F238E27FC236}">
                <a16:creationId xmlns:a16="http://schemas.microsoft.com/office/drawing/2014/main" id="{ADE56AEC-D687-A5FB-C505-8F23A3221B78}"/>
              </a:ext>
            </a:extLst>
          </p:cNvPr>
          <p:cNvSpPr>
            <a:spLocks noGrp="1"/>
          </p:cNvSpPr>
          <p:nvPr>
            <p:ph idx="1"/>
          </p:nvPr>
        </p:nvSpPr>
        <p:spPr>
          <a:xfrm>
            <a:off x="424543" y="1360714"/>
            <a:ext cx="10929257" cy="5018315"/>
          </a:xfrm>
        </p:spPr>
        <p:txBody>
          <a:bodyPr>
            <a:normAutofit fontScale="70000" lnSpcReduction="20000"/>
          </a:bodyPr>
          <a:lstStyle/>
          <a:p>
            <a:pPr marL="0" indent="0">
              <a:lnSpc>
                <a:spcPct val="120000"/>
              </a:lnSpc>
              <a:buNone/>
            </a:pPr>
            <a:r>
              <a:rPr lang="en-IN" b="1" dirty="0">
                <a:latin typeface="Times New Roman" panose="02020603050405020304" pitchFamily="18" charset="0"/>
                <a:cs typeface="Times New Roman" panose="02020603050405020304" pitchFamily="18" charset="0"/>
              </a:rPr>
              <a:t>Module 1 – User Preference Analysis</a:t>
            </a:r>
          </a:p>
          <a:p>
            <a:pPr>
              <a:lnSpc>
                <a:spcPct val="120000"/>
              </a:lnSpc>
            </a:pPr>
            <a:r>
              <a:rPr lang="en-IN" b="1" dirty="0">
                <a:latin typeface="Times New Roman" panose="02020603050405020304" pitchFamily="18" charset="0"/>
                <a:cs typeface="Times New Roman" panose="02020603050405020304" pitchFamily="18" charset="0"/>
              </a:rPr>
              <a:t>Algorithm: NLP-Based Travel Intent Extraction</a:t>
            </a:r>
          </a:p>
          <a:p>
            <a:pPr marL="0" indent="0">
              <a:lnSpc>
                <a:spcPct val="120000"/>
              </a:lnSpc>
              <a:buNone/>
            </a:pPr>
            <a:r>
              <a:rPr lang="en-IN" dirty="0">
                <a:latin typeface="Times New Roman" panose="02020603050405020304" pitchFamily="18" charset="0"/>
                <a:cs typeface="Times New Roman" panose="02020603050405020304" pitchFamily="18" charset="0"/>
              </a:rPr>
              <a:t>Tokenization</a:t>
            </a:r>
          </a:p>
          <a:p>
            <a:pPr marL="0" indent="0">
              <a:lnSpc>
                <a:spcPct val="120000"/>
              </a:lnSpc>
              <a:buNone/>
            </a:pPr>
            <a:r>
              <a:rPr lang="en-IN" dirty="0">
                <a:latin typeface="Times New Roman" panose="02020603050405020304" pitchFamily="18" charset="0"/>
                <a:cs typeface="Times New Roman" panose="02020603050405020304" pitchFamily="18" charset="0"/>
              </a:rPr>
              <a:t>Keyword Extraction</a:t>
            </a:r>
          </a:p>
          <a:p>
            <a:pPr marL="0" indent="0">
              <a:lnSpc>
                <a:spcPct val="120000"/>
              </a:lnSpc>
              <a:buNone/>
            </a:pPr>
            <a:r>
              <a:rPr lang="en-IN" b="1" dirty="0">
                <a:latin typeface="Times New Roman" panose="02020603050405020304" pitchFamily="18" charset="0"/>
                <a:cs typeface="Times New Roman" panose="02020603050405020304" pitchFamily="18" charset="0"/>
              </a:rPr>
              <a:t>Pseudo Logic:</a:t>
            </a:r>
          </a:p>
          <a:p>
            <a:pPr marL="0" indent="0">
              <a:lnSpc>
                <a:spcPct val="120000"/>
              </a:lnSpc>
              <a:buNone/>
            </a:pPr>
            <a:r>
              <a:rPr lang="en-IN" dirty="0">
                <a:latin typeface="Times New Roman" panose="02020603050405020304" pitchFamily="18" charset="0"/>
                <a:cs typeface="Times New Roman" panose="02020603050405020304" pitchFamily="18" charset="0"/>
              </a:rPr>
              <a:t>User input → Extract keywords → Classify travel type→ Store structured preference data</a:t>
            </a:r>
          </a:p>
          <a:p>
            <a:pPr marL="0" indent="0">
              <a:lnSpc>
                <a:spcPct val="120000"/>
              </a:lnSpc>
              <a:buNone/>
            </a:pPr>
            <a:r>
              <a:rPr lang="en-IN" b="1" dirty="0">
                <a:latin typeface="Times New Roman" panose="02020603050405020304" pitchFamily="18" charset="0"/>
                <a:cs typeface="Times New Roman" panose="02020603050405020304" pitchFamily="18" charset="0"/>
              </a:rPr>
              <a:t>Module 2 – Destination Matching</a:t>
            </a:r>
          </a:p>
          <a:p>
            <a:pPr marL="0" indent="0">
              <a:lnSpc>
                <a:spcPct val="120000"/>
              </a:lnSpc>
              <a:buNone/>
            </a:pPr>
            <a:r>
              <a:rPr lang="en-IN" dirty="0">
                <a:latin typeface="Times New Roman" panose="02020603050405020304" pitchFamily="18" charset="0"/>
                <a:cs typeface="Times New Roman" panose="02020603050405020304" pitchFamily="18" charset="0"/>
              </a:rPr>
              <a:t>Budget Range</a:t>
            </a:r>
          </a:p>
          <a:p>
            <a:pPr marL="0" indent="0">
              <a:lnSpc>
                <a:spcPct val="120000"/>
              </a:lnSpc>
              <a:buNone/>
            </a:pPr>
            <a:r>
              <a:rPr lang="en-IN" dirty="0">
                <a:latin typeface="Times New Roman" panose="02020603050405020304" pitchFamily="18" charset="0"/>
                <a:cs typeface="Times New Roman" panose="02020603050405020304" pitchFamily="18" charset="0"/>
              </a:rPr>
              <a:t>Travel Duration</a:t>
            </a:r>
          </a:p>
          <a:p>
            <a:pPr>
              <a:lnSpc>
                <a:spcPct val="120000"/>
              </a:lnSpc>
            </a:pPr>
            <a:r>
              <a:rPr lang="en-IN" b="1" dirty="0">
                <a:latin typeface="Times New Roman" panose="02020603050405020304" pitchFamily="18" charset="0"/>
                <a:cs typeface="Times New Roman" panose="02020603050405020304" pitchFamily="18" charset="0"/>
              </a:rPr>
              <a:t>Algorithm: Content-Based Filtering</a:t>
            </a:r>
          </a:p>
          <a:p>
            <a:pPr marL="0" indent="0">
              <a:lnSpc>
                <a:spcPct val="120000"/>
              </a:lnSpc>
              <a:buNone/>
            </a:pPr>
            <a:r>
              <a:rPr lang="en-US" dirty="0">
                <a:latin typeface="Times New Roman" panose="02020603050405020304" pitchFamily="18" charset="0"/>
                <a:cs typeface="Times New Roman" panose="02020603050405020304" pitchFamily="18" charset="0"/>
              </a:rPr>
              <a:t>Interests</a:t>
            </a: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Season / Weather</a:t>
            </a: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Similarity</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Calculation</a:t>
            </a:r>
            <a:r>
              <a:rPr lang="en-IN" dirty="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Destination Score </a:t>
            </a:r>
          </a:p>
          <a:p>
            <a:pPr marL="0" indent="0">
              <a:lnSpc>
                <a:spcPct val="12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191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64B50C-E0A0-30AB-27C8-0B0D241BF42B}"/>
              </a:ext>
            </a:extLst>
          </p:cNvPr>
          <p:cNvSpPr>
            <a:spLocks noGrp="1"/>
          </p:cNvSpPr>
          <p:nvPr>
            <p:ph idx="1"/>
          </p:nvPr>
        </p:nvSpPr>
        <p:spPr>
          <a:xfrm>
            <a:off x="676124" y="789820"/>
            <a:ext cx="10689772" cy="5965371"/>
          </a:xfrm>
        </p:spPr>
        <p:txBody>
          <a:bodyPr>
            <a:normAutofit/>
          </a:bodyPr>
          <a:lstStyle/>
          <a:p>
            <a:pPr marL="0" indent="0">
              <a:lnSpc>
                <a:spcPct val="110000"/>
              </a:lnSpc>
              <a:buNone/>
            </a:pPr>
            <a:r>
              <a:rPr lang="en-IN" sz="2000" b="1" dirty="0">
                <a:latin typeface="Times New Roman" panose="02020603050405020304" pitchFamily="18" charset="0"/>
                <a:cs typeface="Times New Roman" panose="02020603050405020304" pitchFamily="18" charset="0"/>
              </a:rPr>
              <a:t>Module 3 – Route Optimization</a:t>
            </a:r>
          </a:p>
          <a:p>
            <a:pPr>
              <a:lnSpc>
                <a:spcPct val="110000"/>
              </a:lnSpc>
            </a:pPr>
            <a:r>
              <a:rPr lang="en-US" sz="2000" b="1" dirty="0">
                <a:latin typeface="Times New Roman" panose="02020603050405020304" pitchFamily="18" charset="0"/>
                <a:cs typeface="Times New Roman" panose="02020603050405020304" pitchFamily="18" charset="0"/>
              </a:rPr>
              <a:t>Algorithm: Dijkstra’s Shortest Path Algorithm</a:t>
            </a:r>
            <a:endParaRPr lang="en-US" sz="2000" dirty="0">
              <a:latin typeface="Times New Roman" panose="02020603050405020304" pitchFamily="18" charset="0"/>
              <a:cs typeface="Times New Roman" panose="02020603050405020304" pitchFamily="18" charset="0"/>
            </a:endParaRPr>
          </a:p>
          <a:p>
            <a:pPr marL="0" indent="0">
              <a:lnSpc>
                <a:spcPct val="110000"/>
              </a:lnSpc>
              <a:buNone/>
            </a:pPr>
            <a:r>
              <a:rPr lang="en-US" sz="2000" dirty="0">
                <a:latin typeface="Times New Roman" panose="02020603050405020304" pitchFamily="18" charset="0"/>
                <a:cs typeface="Times New Roman" panose="02020603050405020304" pitchFamily="18" charset="0"/>
              </a:rPr>
              <a:t>Finding shortest path between tourist attractions</a:t>
            </a:r>
          </a:p>
          <a:p>
            <a:pPr marL="0" indent="0">
              <a:lnSpc>
                <a:spcPct val="110000"/>
              </a:lnSpc>
              <a:buNone/>
            </a:pPr>
            <a:r>
              <a:rPr lang="en-US" sz="2000" dirty="0">
                <a:latin typeface="Times New Roman" panose="02020603050405020304" pitchFamily="18" charset="0"/>
                <a:cs typeface="Times New Roman" panose="02020603050405020304" pitchFamily="18" charset="0"/>
              </a:rPr>
              <a:t>Minimizing travel time and transportation cost</a:t>
            </a:r>
          </a:p>
          <a:p>
            <a:pPr marL="0" indent="0">
              <a:lnSpc>
                <a:spcPct val="110000"/>
              </a:lnSpc>
              <a:buNone/>
            </a:pPr>
            <a:r>
              <a:rPr lang="en-IN" sz="2000" b="1" dirty="0">
                <a:latin typeface="Times New Roman" panose="02020603050405020304" pitchFamily="18" charset="0"/>
                <a:cs typeface="Times New Roman" panose="02020603050405020304" pitchFamily="18" charset="0"/>
              </a:rPr>
              <a:t>Pseudo Logic:</a:t>
            </a:r>
          </a:p>
          <a:p>
            <a:pPr marL="0" indent="0">
              <a:lnSpc>
                <a:spcPct val="110000"/>
              </a:lnSpc>
              <a:buNone/>
            </a:pPr>
            <a:r>
              <a:rPr lang="en-IN" sz="2000" dirty="0">
                <a:latin typeface="Times New Roman" panose="02020603050405020304" pitchFamily="18" charset="0"/>
                <a:cs typeface="Times New Roman" panose="02020603050405020304" pitchFamily="18" charset="0"/>
              </a:rPr>
              <a:t>Create distance graph→ Apply Dijkstra’s Algorithm→ Generate optimized travel route Module  – Roadmap Generation</a:t>
            </a:r>
          </a:p>
          <a:p>
            <a:pPr marL="0" indent="0">
              <a:lnSpc>
                <a:spcPct val="110000"/>
              </a:lnSpc>
              <a:buNone/>
            </a:pPr>
            <a:r>
              <a:rPr lang="en-US" sz="2000" b="1" dirty="0">
                <a:latin typeface="Times New Roman" panose="02020603050405020304" pitchFamily="18" charset="0"/>
                <a:cs typeface="Times New Roman" panose="02020603050405020304" pitchFamily="18" charset="0"/>
              </a:rPr>
              <a:t>Module 4 – Itinerary Generation</a:t>
            </a:r>
          </a:p>
          <a:p>
            <a:pPr>
              <a:lnSpc>
                <a:spcPct val="110000"/>
              </a:lnSpc>
            </a:pPr>
            <a:r>
              <a:rPr lang="en-US" sz="2000" b="1" dirty="0">
                <a:latin typeface="Times New Roman" panose="02020603050405020304" pitchFamily="18" charset="0"/>
                <a:cs typeface="Times New Roman" panose="02020603050405020304" pitchFamily="18" charset="0"/>
              </a:rPr>
              <a:t>Algorithm : Greedy Scheduling Algorithm</a:t>
            </a:r>
          </a:p>
          <a:p>
            <a:pPr marL="0" indent="0">
              <a:lnSpc>
                <a:spcPct val="110000"/>
              </a:lnSpc>
              <a:buNone/>
            </a:pPr>
            <a:r>
              <a:rPr lang="en-US" sz="2000" dirty="0">
                <a:latin typeface="Times New Roman" panose="02020603050405020304" pitchFamily="18" charset="0"/>
                <a:cs typeface="Times New Roman" panose="02020603050405020304" pitchFamily="18" charset="0"/>
              </a:rPr>
              <a:t>Select highest-rated attraction</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Check time availability</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Check distance feasibility</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Assign activities sequentially</a:t>
            </a:r>
          </a:p>
          <a:p>
            <a:pPr marL="0" indent="0">
              <a:lnSpc>
                <a:spcPct val="110000"/>
              </a:lnSpc>
              <a:buNone/>
            </a:pPr>
            <a:endParaRPr lang="en-US" sz="2400" dirty="0">
              <a:latin typeface="Times New Roman" panose="02020603050405020304" pitchFamily="18" charset="0"/>
              <a:cs typeface="Times New Roman" panose="02020603050405020304" pitchFamily="18" charset="0"/>
            </a:endParaRPr>
          </a:p>
          <a:p>
            <a:pPr marL="0" indent="0">
              <a:lnSpc>
                <a:spcPct val="110000"/>
              </a:lnSpc>
              <a:buNone/>
            </a:pPr>
            <a:endParaRPr lang="en-US" sz="2400" dirty="0">
              <a:latin typeface="Times New Roman" panose="02020603050405020304" pitchFamily="18" charset="0"/>
              <a:cs typeface="Times New Roman" panose="02020603050405020304" pitchFamily="18" charset="0"/>
            </a:endParaRPr>
          </a:p>
          <a:p>
            <a:pPr>
              <a:lnSpc>
                <a:spcPct val="110000"/>
              </a:lnSpc>
            </a:pPr>
            <a:endParaRPr lang="en-US" sz="2400" dirty="0">
              <a:latin typeface="Times New Roman" panose="02020603050405020304" pitchFamily="18" charset="0"/>
              <a:cs typeface="Times New Roman" panose="02020603050405020304" pitchFamily="18" charset="0"/>
            </a:endParaRPr>
          </a:p>
          <a:p>
            <a:pPr marL="0" indent="0">
              <a:lnSpc>
                <a:spcPct val="11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2348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DDE99B-2DE8-08C6-5E76-A488DE1EDA46}"/>
              </a:ext>
            </a:extLst>
          </p:cNvPr>
          <p:cNvSpPr>
            <a:spLocks noGrp="1"/>
          </p:cNvSpPr>
          <p:nvPr>
            <p:ph idx="1"/>
          </p:nvPr>
        </p:nvSpPr>
        <p:spPr>
          <a:xfrm>
            <a:off x="707923" y="575733"/>
            <a:ext cx="10785987" cy="5601230"/>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Module 5 – Budget Estimation</a:t>
            </a:r>
          </a:p>
          <a:p>
            <a:r>
              <a:rPr lang="en-US" sz="2000" b="1" dirty="0">
                <a:latin typeface="Times New Roman" panose="02020603050405020304" pitchFamily="18" charset="0"/>
                <a:cs typeface="Times New Roman" panose="02020603050405020304" pitchFamily="18" charset="0"/>
              </a:rPr>
              <a:t> Algorithm: Linear Regression (Cost Prediction)</a:t>
            </a:r>
          </a:p>
          <a:p>
            <a:pPr marL="0" indent="0">
              <a:buNone/>
            </a:pPr>
            <a:r>
              <a:rPr lang="en-US" sz="2000" dirty="0">
                <a:latin typeface="Times New Roman" panose="02020603050405020304" pitchFamily="18" charset="0"/>
                <a:cs typeface="Times New Roman" panose="02020603050405020304" pitchFamily="18" charset="0"/>
              </a:rPr>
              <a:t>Parameters:</a:t>
            </a:r>
          </a:p>
          <a:p>
            <a:pPr marL="0" indent="0">
              <a:buNone/>
            </a:pPr>
            <a:r>
              <a:rPr lang="en-US" sz="2000" dirty="0">
                <a:latin typeface="Times New Roman" panose="02020603050405020304" pitchFamily="18" charset="0"/>
                <a:cs typeface="Times New Roman" panose="02020603050405020304" pitchFamily="18" charset="0"/>
              </a:rPr>
              <a:t>Number of Days, Destination, Hotel Category, Transport Type, Season</a:t>
            </a:r>
          </a:p>
          <a:p>
            <a:pPr marL="0" indent="0">
              <a:buNone/>
            </a:pPr>
            <a:r>
              <a:rPr lang="en-US" sz="2000" dirty="0">
                <a:latin typeface="Times New Roman" panose="02020603050405020304" pitchFamily="18" charset="0"/>
                <a:cs typeface="Times New Roman" panose="02020603050405020304" pitchFamily="18" charset="0"/>
              </a:rPr>
              <a:t>Cost Formula : Estimated Cost = (Base Cost × Days)+(Hotel Cost)+(Transport Cost)+(Seasonal Adjustment Factor)</a:t>
            </a:r>
          </a:p>
          <a:p>
            <a:pPr marL="0" indent="0">
              <a:buNone/>
            </a:pPr>
            <a:r>
              <a:rPr lang="en-IN" sz="2000" b="1" dirty="0">
                <a:latin typeface="Times New Roman" panose="02020603050405020304" pitchFamily="18" charset="0"/>
                <a:cs typeface="Times New Roman" panose="02020603050405020304" pitchFamily="18" charset="0"/>
              </a:rPr>
              <a:t>Module 6 – Recommendation &amp; Comparison</a:t>
            </a:r>
          </a:p>
          <a:p>
            <a:r>
              <a:rPr lang="en-IN" sz="2000" b="1" dirty="0">
                <a:latin typeface="Times New Roman" panose="02020603050405020304" pitchFamily="18" charset="0"/>
                <a:cs typeface="Times New Roman" panose="02020603050405020304" pitchFamily="18" charset="0"/>
              </a:rPr>
              <a:t> Algorithm: Multi-Criteria Decision Analysis (MCDA)</a:t>
            </a:r>
          </a:p>
          <a:p>
            <a:pPr marL="0" indent="0">
              <a:buNone/>
            </a:pPr>
            <a:r>
              <a:rPr lang="en-IN" sz="2000" dirty="0" err="1">
                <a:latin typeface="Times New Roman" panose="02020603050405020304" pitchFamily="18" charset="0"/>
                <a:cs typeface="Times New Roman" panose="02020603050405020304" pitchFamily="18" charset="0"/>
              </a:rPr>
              <a:t>Parameters:Cost</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Travel Time ,Popularity, User Rating, Safety Index</a:t>
            </a:r>
          </a:p>
          <a:p>
            <a:pPr marL="0" indent="0">
              <a:lnSpc>
                <a:spcPct val="120000"/>
              </a:lnSpc>
              <a:buNone/>
            </a:pPr>
            <a:r>
              <a:rPr lang="en-IN" sz="2000" dirty="0">
                <a:latin typeface="Times New Roman" panose="02020603050405020304" pitchFamily="18" charset="0"/>
                <a:cs typeface="Times New Roman" panose="02020603050405020304" pitchFamily="18" charset="0"/>
              </a:rPr>
              <a:t>Final Score Calculation : Final Score =(Weight1 × Cost Score)(Weight2 × Popularity)(Weight3 × User Rating)(Weight4 × Safety)Destination with highest score is ranked first.</a:t>
            </a:r>
          </a:p>
        </p:txBody>
      </p:sp>
    </p:spTree>
    <p:extLst>
      <p:ext uri="{BB962C8B-B14F-4D97-AF65-F5344CB8AC3E}">
        <p14:creationId xmlns:p14="http://schemas.microsoft.com/office/powerpoint/2010/main" val="151164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16499" y="93956"/>
            <a:ext cx="3724096" cy="523220"/>
          </a:xfrm>
          <a:prstGeom prst="rect">
            <a:avLst/>
          </a:prstGeom>
        </p:spPr>
        <p:txBody>
          <a:bodyPr wrap="none">
            <a:spAutoFit/>
          </a:bodyPr>
          <a:lstStyle/>
          <a:p>
            <a:pPr algn="ctr"/>
            <a:r>
              <a:rPr lang="en-US" sz="2800" b="1" dirty="0">
                <a:latin typeface="Times New Roman"/>
                <a:cs typeface="Times New Roman"/>
              </a:rPr>
              <a:t>EXPECTED OUTPUT</a:t>
            </a:r>
            <a:endParaRPr lang="en-IN" sz="2800" b="1" dirty="0"/>
          </a:p>
        </p:txBody>
      </p:sp>
      <p:sp>
        <p:nvSpPr>
          <p:cNvPr id="4" name="TextBox 3"/>
          <p:cNvSpPr txBox="1"/>
          <p:nvPr/>
        </p:nvSpPr>
        <p:spPr>
          <a:xfrm>
            <a:off x="627797" y="1610436"/>
            <a:ext cx="7888406" cy="4954137"/>
          </a:xfrm>
          <a:prstGeom prst="rect">
            <a:avLst/>
          </a:prstGeom>
          <a:noFill/>
        </p:spPr>
        <p:txBody>
          <a:bodyPr wrap="square" rtlCol="0">
            <a:spAutoFit/>
          </a:bodyPr>
          <a:lstStyle/>
          <a:p>
            <a:endParaRPr lang="en-IN" dirty="0"/>
          </a:p>
        </p:txBody>
      </p:sp>
      <p:pic>
        <p:nvPicPr>
          <p:cNvPr id="11" name="Picture 10">
            <a:extLst>
              <a:ext uri="{FF2B5EF4-FFF2-40B4-BE49-F238E27FC236}">
                <a16:creationId xmlns:a16="http://schemas.microsoft.com/office/drawing/2014/main" id="{922C5E89-81D5-1D39-74BB-1021A4C10B51}"/>
              </a:ext>
            </a:extLst>
          </p:cNvPr>
          <p:cNvPicPr>
            <a:picLocks noChangeAspect="1"/>
          </p:cNvPicPr>
          <p:nvPr/>
        </p:nvPicPr>
        <p:blipFill>
          <a:blip r:embed="rId2"/>
          <a:stretch>
            <a:fillRect/>
          </a:stretch>
        </p:blipFill>
        <p:spPr>
          <a:xfrm>
            <a:off x="4969347" y="334433"/>
            <a:ext cx="4894906" cy="6328834"/>
          </a:xfrm>
          <a:prstGeom prst="rect">
            <a:avLst/>
          </a:prstGeom>
        </p:spPr>
      </p:pic>
    </p:spTree>
    <p:extLst>
      <p:ext uri="{BB962C8B-B14F-4D97-AF65-F5344CB8AC3E}">
        <p14:creationId xmlns:p14="http://schemas.microsoft.com/office/powerpoint/2010/main" val="3095194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2291" y="460191"/>
            <a:ext cx="2619628"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778549" y="1571218"/>
            <a:ext cx="10630981" cy="2769989"/>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Travel Partner: AI-Enhanced Travel Companion offers an intelligent and personalized approach to modern travel planning. By integrating AI and real-time data, it simplifies the entire journey from itinerary creation to on-trip assistance ensuring convenience, safety, and cost efficiency. The system not only saves time but also enhances the overall travel experience by adapting to user preferences and dynamic conditions, making it a reliable and smart companion for every traveler.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409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96606" y="659221"/>
            <a:ext cx="2598788" cy="523220"/>
          </a:xfrm>
          <a:prstGeom prst="rect">
            <a:avLst/>
          </a:prstGeom>
        </p:spPr>
        <p:txBody>
          <a:bodyPr wrap="none">
            <a:spAutoFit/>
          </a:bodyPr>
          <a:lstStyle/>
          <a:p>
            <a:pPr algn="ct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928049" y="1659173"/>
            <a:ext cx="10536070" cy="2523768"/>
          </a:xfrm>
          <a:prstGeom prst="rect">
            <a:avLst/>
          </a:prstGeom>
        </p:spPr>
        <p:txBody>
          <a:bodyPr wrap="square">
            <a:spAutoFit/>
          </a:bodyPr>
          <a:lstStyle/>
          <a:p>
            <a:endParaRPr lang="en-IN" dirty="0"/>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Londhe, K. (2024) Enhanced Travel Experience using Artificial Intelligence. ScienceDirect. </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Kongpeng</a:t>
            </a:r>
            <a:r>
              <a:rPr lang="en-US" sz="2000" dirty="0">
                <a:latin typeface="Times New Roman" panose="02020603050405020304" pitchFamily="18" charset="0"/>
                <a:cs typeface="Times New Roman" panose="02020603050405020304" pitchFamily="18" charset="0"/>
              </a:rPr>
              <a:t>, S. (2024) Tourist Destination Recommendation System based on Machine Learning. ACM Digital Library. </a:t>
            </a:r>
          </a:p>
          <a:p>
            <a:pPr algn="just"/>
            <a:endParaRPr lang="en-I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Chen, A. (2024). Travel Agent: An AI Assistant for Personalized Travel Planning. </a:t>
            </a:r>
            <a:r>
              <a:rPr lang="en-IN" sz="2000" dirty="0" err="1">
                <a:latin typeface="Times New Roman" panose="02020603050405020304" pitchFamily="18" charset="0"/>
                <a:cs typeface="Times New Roman" panose="02020603050405020304" pitchFamily="18" charset="0"/>
              </a:rPr>
              <a:t>arXiv</a:t>
            </a:r>
            <a:r>
              <a:rPr lang="en-IN" sz="2000" dirty="0">
                <a:latin typeface="Times New Roman" panose="02020603050405020304" pitchFamily="18" charset="0"/>
                <a:cs typeface="Times New Roman" panose="02020603050405020304" pitchFamily="18" charset="0"/>
              </a:rPr>
              <a:t>. </a:t>
            </a:r>
          </a:p>
          <a:p>
            <a:pPr algn="just"/>
            <a:r>
              <a:rPr lang="en-IN" sz="2000" dirty="0">
                <a:latin typeface="Times New Roman" panose="02020603050405020304" pitchFamily="18" charset="0"/>
                <a:cs typeface="Times New Roman" panose="02020603050405020304" pitchFamily="18" charset="0"/>
              </a:rPr>
              <a:t>      Department</a:t>
            </a:r>
          </a:p>
        </p:txBody>
      </p:sp>
    </p:spTree>
    <p:extLst>
      <p:ext uri="{BB962C8B-B14F-4D97-AF65-F5344CB8AC3E}">
        <p14:creationId xmlns:p14="http://schemas.microsoft.com/office/powerpoint/2010/main" val="1154393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1037</TotalTime>
  <Words>1656</Words>
  <Application>Microsoft Office PowerPoint</Application>
  <PresentationFormat>Widescreen</PresentationFormat>
  <Paragraphs>195</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PowerPoint Presentation</vt:lpstr>
      <vt:lpstr>INTRODUCTION</vt:lpstr>
      <vt:lpstr>PowerPoint Presentation</vt:lpstr>
      <vt:lpstr>EXISTING SYSTEM</vt:lpstr>
      <vt:lpstr>DISADVANTAGES OF EXISTING SYSTEM</vt:lpstr>
      <vt:lpstr>PROPOSED SYSTEM</vt:lpstr>
      <vt:lpstr>ADVANTAGES OF PROPOSED SYSTEM</vt:lpstr>
      <vt:lpstr>REQUIREMENT ANALYSIS</vt:lpstr>
      <vt:lpstr>PowerPoint Presentation</vt:lpstr>
      <vt:lpstr>REQUIREMENT ANALYSIS</vt:lpstr>
      <vt:lpstr>COMPUTATIONAL RESOURCES</vt:lpstr>
      <vt:lpstr>DESIGN </vt:lpstr>
      <vt:lpstr>PowerPoint Presentation</vt:lpstr>
      <vt:lpstr>TECHNICAL ARCHITECTURE</vt:lpstr>
      <vt:lpstr>SOFTWARE PROCESS MODEL</vt:lpstr>
      <vt:lpstr>UML DIAGRAMS</vt:lpstr>
      <vt:lpstr>PowerPoint Presentation</vt:lpstr>
      <vt:lpstr>PowerPoint Presentation</vt:lpstr>
      <vt:lpstr>PowerPoint Presentation</vt:lpstr>
      <vt:lpstr>Sequence diagram for admin</vt:lpstr>
      <vt:lpstr>Implementation Flow - TRAVEL PARTNER:AI ENHANCED TRAVEL COMPANION </vt:lpstr>
      <vt:lpstr>PowerPoint Presentation</vt:lpstr>
      <vt:lpstr>ALOGORITHMS USED</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COPY-MOVE FORGERY DETECTION SYSTEM</dc:title>
  <dc:creator>gayathri</dc:creator>
  <cp:lastModifiedBy>Kompella Ganesh</cp:lastModifiedBy>
  <cp:revision>259</cp:revision>
  <dcterms:created xsi:type="dcterms:W3CDTF">2022-11-08T13:41:00Z</dcterms:created>
  <dcterms:modified xsi:type="dcterms:W3CDTF">2026-02-23T03:24:26Z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C2300362DDF84AF0B1D7CD41332423B5_13</vt:lpwstr>
  </property>
  <property fmtid="{D5CDD505-2E9C-101B-9397-08002B2CF9AE}" pid="3" name="KSOProductBuildVer">
    <vt:lpwstr>1033-12.2.0.13292</vt:lpwstr>
  </property>
</Properties>
</file>